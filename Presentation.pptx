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Lst>
  <p:sldSz type="screen16x9" cy="5143500" cx="9144000"/>
  <p:notesSz cx="5143500" cy="9144000"/>
  <p:defaultTextStyle>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9887" autoAdjust="0"/>
    <p:restoredTop sz="94610"/>
  </p:normalViewPr>
  <p:slideViewPr>
    <p:cSldViewPr snapToGrid="0" snapToObjects="1">
      <p:cViewPr>
        <p:scale>
          <a:sx n="100" d="100"/>
          <a:sy n="100" d="100"/>
        </p:scale>
        <p:origin x="749" y="30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tableStyles" Target="tableStyles.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5"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048580" name="Slide Image Placeholder 1"/>
          <p:cNvSpPr>
            <a:spLocks noChangeAspect="1" noRot="1" noGrp="1"/>
          </p:cNvSpPr>
          <p:nvPr>
            <p:ph type="sldImg"/>
          </p:nvPr>
        </p:nvSpPr>
        <p:spPr/>
      </p:sp>
      <p:sp>
        <p:nvSpPr>
          <p:cNvPr id="1048581" name="Notes Placeholder 2"/>
          <p:cNvSpPr>
            <a:spLocks noGrp="1"/>
          </p:cNvSpPr>
          <p:nvPr>
            <p:ph type="body" idx="1"/>
          </p:nvPr>
        </p:nvSpPr>
        <p:spPr/>
        <p:txBody>
          <a:bodyPr/>
          <a:p>
            <a:endParaRPr dirty="0" lang="en-US"/>
          </a:p>
        </p:txBody>
      </p:sp>
      <p:sp>
        <p:nvSpPr>
          <p:cNvPr id="1048582"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0" name=""/>
        <p:cNvGrpSpPr/>
        <p:nvPr/>
      </p:nvGrpSpPr>
      <p:grpSpPr>
        <a:xfrm>
          <a:off x="0" y="0"/>
          <a:ext cx="0" cy="0"/>
          <a:chOff x="0" y="0"/>
          <a:chExt cx="0" cy="0"/>
        </a:xfrm>
      </p:grpSpPr>
      <p:sp>
        <p:nvSpPr>
          <p:cNvPr id="1048594" name="Slide Image Placeholder 1"/>
          <p:cNvSpPr>
            <a:spLocks noChangeAspect="1" noRot="1" noGrp="1"/>
          </p:cNvSpPr>
          <p:nvPr>
            <p:ph type="sldImg"/>
          </p:nvPr>
        </p:nvSpPr>
        <p:spPr/>
      </p:sp>
      <p:sp>
        <p:nvSpPr>
          <p:cNvPr id="1048595" name="Notes Placeholder 2"/>
          <p:cNvSpPr>
            <a:spLocks noGrp="1"/>
          </p:cNvSpPr>
          <p:nvPr>
            <p:ph type="body" idx="1"/>
          </p:nvPr>
        </p:nvSpPr>
        <p:spPr/>
        <p:txBody>
          <a:bodyPr/>
          <a:p>
            <a:endParaRPr dirty="0" lang="en-US"/>
          </a:p>
        </p:txBody>
      </p:sp>
      <p:sp>
        <p:nvSpPr>
          <p:cNvPr id="1048596"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3" name=""/>
        <p:cNvGrpSpPr/>
        <p:nvPr/>
      </p:nvGrpSpPr>
      <p:grpSpPr>
        <a:xfrm>
          <a:off x="0" y="0"/>
          <a:ext cx="0" cy="0"/>
          <a:chOff x="0" y="0"/>
          <a:chExt cx="0" cy="0"/>
        </a:xfrm>
      </p:grpSpPr>
      <p:sp>
        <p:nvSpPr>
          <p:cNvPr id="1048616" name="Slide Image Placeholder 1"/>
          <p:cNvSpPr>
            <a:spLocks noChangeAspect="1" noRot="1" noGrp="1"/>
          </p:cNvSpPr>
          <p:nvPr>
            <p:ph type="sldImg"/>
          </p:nvPr>
        </p:nvSpPr>
        <p:spPr/>
      </p:sp>
      <p:sp>
        <p:nvSpPr>
          <p:cNvPr id="1048617" name="Notes Placeholder 2"/>
          <p:cNvSpPr>
            <a:spLocks noGrp="1"/>
          </p:cNvSpPr>
          <p:nvPr>
            <p:ph type="body" idx="1"/>
          </p:nvPr>
        </p:nvSpPr>
        <p:spPr/>
        <p:txBody>
          <a:bodyPr/>
          <a:p>
            <a:endParaRPr dirty="0" lang="en-US"/>
          </a:p>
        </p:txBody>
      </p:sp>
      <p:sp>
        <p:nvSpPr>
          <p:cNvPr id="1048618"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637" name="Slide Image Placeholder 1"/>
          <p:cNvSpPr>
            <a:spLocks noChangeAspect="1" noRot="1" noGrp="1"/>
          </p:cNvSpPr>
          <p:nvPr>
            <p:ph type="sldImg"/>
          </p:nvPr>
        </p:nvSpPr>
        <p:spPr/>
      </p:sp>
      <p:sp>
        <p:nvSpPr>
          <p:cNvPr id="1048638" name="Notes Placeholder 2"/>
          <p:cNvSpPr>
            <a:spLocks noGrp="1"/>
          </p:cNvSpPr>
          <p:nvPr>
            <p:ph type="body" idx="1"/>
          </p:nvPr>
        </p:nvSpPr>
        <p:spPr/>
        <p:txBody>
          <a:bodyPr/>
          <a:p>
            <a:endParaRPr dirty="0" lang="en-US"/>
          </a:p>
        </p:txBody>
      </p:sp>
      <p:sp>
        <p:nvSpPr>
          <p:cNvPr id="1048639"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697" name="Slide Image Placeholder 1"/>
          <p:cNvSpPr>
            <a:spLocks noChangeAspect="1" noRot="1" noGrp="1"/>
          </p:cNvSpPr>
          <p:nvPr>
            <p:ph type="sldImg"/>
          </p:nvPr>
        </p:nvSpPr>
        <p:spPr/>
      </p:sp>
      <p:sp>
        <p:nvSpPr>
          <p:cNvPr id="1048698" name="Notes Placeholder 2"/>
          <p:cNvSpPr>
            <a:spLocks noGrp="1"/>
          </p:cNvSpPr>
          <p:nvPr>
            <p:ph type="body" idx="1"/>
          </p:nvPr>
        </p:nvSpPr>
        <p:spPr/>
        <p:txBody>
          <a:bodyPr/>
          <a:p>
            <a:endParaRPr dirty="0" lang="en-US"/>
          </a:p>
        </p:txBody>
      </p:sp>
      <p:sp>
        <p:nvSpPr>
          <p:cNvPr id="1048699"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715" name="Slide Image Placeholder 1"/>
          <p:cNvSpPr>
            <a:spLocks noChangeAspect="1" noRot="1" noGrp="1"/>
          </p:cNvSpPr>
          <p:nvPr>
            <p:ph type="sldImg"/>
          </p:nvPr>
        </p:nvSpPr>
        <p:spPr/>
      </p:sp>
      <p:sp>
        <p:nvSpPr>
          <p:cNvPr id="1048716" name="Notes Placeholder 2"/>
          <p:cNvSpPr>
            <a:spLocks noGrp="1"/>
          </p:cNvSpPr>
          <p:nvPr>
            <p:ph type="body" idx="1"/>
          </p:nvPr>
        </p:nvSpPr>
        <p:spPr/>
        <p:txBody>
          <a:bodyPr/>
          <a:p>
            <a:endParaRPr dirty="0" lang="en-US"/>
          </a:p>
        </p:txBody>
      </p:sp>
      <p:sp>
        <p:nvSpPr>
          <p:cNvPr id="1048717"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749" name="Slide Image Placeholder 1"/>
          <p:cNvSpPr>
            <a:spLocks noChangeAspect="1" noRot="1" noGrp="1"/>
          </p:cNvSpPr>
          <p:nvPr>
            <p:ph type="sldImg"/>
          </p:nvPr>
        </p:nvSpPr>
        <p:spPr/>
      </p:sp>
      <p:sp>
        <p:nvSpPr>
          <p:cNvPr id="1048750" name="Notes Placeholder 2"/>
          <p:cNvSpPr>
            <a:spLocks noGrp="1"/>
          </p:cNvSpPr>
          <p:nvPr>
            <p:ph type="body" idx="1"/>
          </p:nvPr>
        </p:nvSpPr>
        <p:spPr/>
        <p:txBody>
          <a:bodyPr/>
          <a:p>
            <a:endParaRPr dirty="0" lang="en-US"/>
          </a:p>
        </p:txBody>
      </p:sp>
      <p:sp>
        <p:nvSpPr>
          <p:cNvPr id="1048751"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767" name="Slide Image Placeholder 1"/>
          <p:cNvSpPr>
            <a:spLocks noChangeAspect="1" noRot="1" noGrp="1"/>
          </p:cNvSpPr>
          <p:nvPr>
            <p:ph type="sldImg"/>
          </p:nvPr>
        </p:nvSpPr>
        <p:spPr/>
      </p:sp>
      <p:sp>
        <p:nvSpPr>
          <p:cNvPr id="1048768" name="Notes Placeholder 2"/>
          <p:cNvSpPr>
            <a:spLocks noGrp="1"/>
          </p:cNvSpPr>
          <p:nvPr>
            <p:ph type="body" idx="1"/>
          </p:nvPr>
        </p:nvSpPr>
        <p:spPr/>
        <p:txBody>
          <a:bodyPr/>
          <a:p>
            <a:endParaRPr dirty="0" lang="en-US"/>
          </a:p>
        </p:txBody>
      </p:sp>
      <p:sp>
        <p:nvSpPr>
          <p:cNvPr id="1048769"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796" name="Slide Image Placeholder 1"/>
          <p:cNvSpPr>
            <a:spLocks noChangeAspect="1" noRot="1" noGrp="1"/>
          </p:cNvSpPr>
          <p:nvPr>
            <p:ph type="sldImg"/>
          </p:nvPr>
        </p:nvSpPr>
        <p:spPr/>
      </p:sp>
      <p:sp>
        <p:nvSpPr>
          <p:cNvPr id="1048797" name="Notes Placeholder 2"/>
          <p:cNvSpPr>
            <a:spLocks noGrp="1"/>
          </p:cNvSpPr>
          <p:nvPr>
            <p:ph type="body" idx="1"/>
          </p:nvPr>
        </p:nvSpPr>
        <p:spPr/>
        <p:txBody>
          <a:bodyPr/>
          <a:p>
            <a:endParaRPr dirty="0" lang="en-US"/>
          </a:p>
        </p:txBody>
      </p:sp>
      <p:sp>
        <p:nvSpPr>
          <p:cNvPr id="1048798"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807" name="Slide Image Placeholder 1"/>
          <p:cNvSpPr>
            <a:spLocks noChangeAspect="1" noRot="1" noGrp="1"/>
          </p:cNvSpPr>
          <p:nvPr>
            <p:ph type="sldImg"/>
          </p:nvPr>
        </p:nvSpPr>
        <p:spPr/>
      </p:sp>
      <p:sp>
        <p:nvSpPr>
          <p:cNvPr id="1048808" name="Notes Placeholder 2"/>
          <p:cNvSpPr>
            <a:spLocks noGrp="1"/>
          </p:cNvSpPr>
          <p:nvPr>
            <p:ph type="body" idx="1"/>
          </p:nvPr>
        </p:nvSpPr>
        <p:spPr/>
        <p:txBody>
          <a:bodyPr/>
          <a:p>
            <a:endParaRPr dirty="0" lang="en-US"/>
          </a:p>
        </p:txBody>
      </p:sp>
      <p:sp>
        <p:nvSpPr>
          <p:cNvPr id="1048809" name="Slide Number Placeholder 3"/>
          <p:cNvSpPr>
            <a:spLocks noGrp="1"/>
          </p:cNvSpPr>
          <p:nvPr>
            <p:ph type="sldNum" sz="quarter" idx="10"/>
          </p:nvPr>
        </p:nvSpPr>
        <p:spPr/>
        <p:txBody>
          <a:bodyPr/>
          <a:p>
            <a:fld id="{F7021451-1387-4CA6-816F-3879F97B5CBC}" type="slidenum">
              <a:rPr lang="en-US"/>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4"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49" r:id="rId1"/>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image" Target="../media/image20.png"/><Relationship Id="rId12" Type="http://schemas.openxmlformats.org/officeDocument/2006/relationships/image" Target="../media/image21.png"/><Relationship Id="rId13" Type="http://schemas.openxmlformats.org/officeDocument/2006/relationships/image" Target="../media/image22.png"/><Relationship Id="rId14" Type="http://schemas.openxmlformats.org/officeDocument/2006/relationships/image" Target="../media/image23.png"/><Relationship Id="rId15" Type="http://schemas.openxmlformats.org/officeDocument/2006/relationships/image" Target="../media/image24.png"/><Relationship Id="rId16" Type="http://schemas.openxmlformats.org/officeDocument/2006/relationships/slideLayout" Target="../slideLayouts/slideLayout1.xml"/><Relationship Id="rId1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 Id="rId11" Type="http://schemas.openxmlformats.org/officeDocument/2006/relationships/image" Target="../media/image35.png"/><Relationship Id="rId12" Type="http://schemas.openxmlformats.org/officeDocument/2006/relationships/image" Target="../media/image36.png"/><Relationship Id="rId13" Type="http://schemas.openxmlformats.org/officeDocument/2006/relationships/image" Target="../media/image37.png"/><Relationship Id="rId14" Type="http://schemas.openxmlformats.org/officeDocument/2006/relationships/image" Target="../media/image38.png"/><Relationship Id="rId15" Type="http://schemas.openxmlformats.org/officeDocument/2006/relationships/image" Target="../media/image39.png"/><Relationship Id="rId16" Type="http://schemas.openxmlformats.org/officeDocument/2006/relationships/image" Target="../media/image40.png"/><Relationship Id="rId17" Type="http://schemas.openxmlformats.org/officeDocument/2006/relationships/image" Target="../media/image41.png"/><Relationship Id="rId18" Type="http://schemas.openxmlformats.org/officeDocument/2006/relationships/image" Target="../media/image42.png"/><Relationship Id="rId19" Type="http://schemas.openxmlformats.org/officeDocument/2006/relationships/image" Target="../media/image43.png"/><Relationship Id="rId20" Type="http://schemas.openxmlformats.org/officeDocument/2006/relationships/image" Target="../media/image44.png"/><Relationship Id="rId21" Type="http://schemas.openxmlformats.org/officeDocument/2006/relationships/image" Target="../media/image45.png"/><Relationship Id="rId22" Type="http://schemas.openxmlformats.org/officeDocument/2006/relationships/image" Target="../media/image46.png"/><Relationship Id="rId23" Type="http://schemas.openxmlformats.org/officeDocument/2006/relationships/image" Target="../media/image47.png"/><Relationship Id="rId24" Type="http://schemas.openxmlformats.org/officeDocument/2006/relationships/slideLayout" Target="../slideLayouts/slideLayout1.xml"/><Relationship Id="rId2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48.png"/><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5.png"/><Relationship Id="rId9" Type="http://schemas.openxmlformats.org/officeDocument/2006/relationships/image" Target="../media/image56.png"/><Relationship Id="rId10" Type="http://schemas.openxmlformats.org/officeDocument/2006/relationships/image" Target="../media/image57.png"/><Relationship Id="rId11" Type="http://schemas.openxmlformats.org/officeDocument/2006/relationships/image" Target="../media/image58.png"/><Relationship Id="rId12" Type="http://schemas.openxmlformats.org/officeDocument/2006/relationships/image" Target="../media/image59.png"/><Relationship Id="rId13" Type="http://schemas.openxmlformats.org/officeDocument/2006/relationships/slideLayout" Target="../slideLayouts/slideLayout1.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60.png"/><Relationship Id="rId2" Type="http://schemas.openxmlformats.org/officeDocument/2006/relationships/image" Target="../media/image61.png"/><Relationship Id="rId3" Type="http://schemas.openxmlformats.org/officeDocument/2006/relationships/image" Target="../media/image32.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49.png"/><Relationship Id="rId10" Type="http://schemas.openxmlformats.org/officeDocument/2006/relationships/image" Target="../media/image53.png"/><Relationship Id="rId11" Type="http://schemas.openxmlformats.org/officeDocument/2006/relationships/image" Target="../media/image67.png"/><Relationship Id="rId12" Type="http://schemas.openxmlformats.org/officeDocument/2006/relationships/image" Target="../media/image68.png"/><Relationship Id="rId13" Type="http://schemas.openxmlformats.org/officeDocument/2006/relationships/image" Target="../media/image69.png"/><Relationship Id="rId14" Type="http://schemas.openxmlformats.org/officeDocument/2006/relationships/image" Target="../media/image70.png"/><Relationship Id="rId15" Type="http://schemas.openxmlformats.org/officeDocument/2006/relationships/image" Target="../media/image71.png"/><Relationship Id="rId16" Type="http://schemas.openxmlformats.org/officeDocument/2006/relationships/image" Target="../media/image72.png"/><Relationship Id="rId17" Type="http://schemas.openxmlformats.org/officeDocument/2006/relationships/image" Target="../media/image73.png"/><Relationship Id="rId18" Type="http://schemas.openxmlformats.org/officeDocument/2006/relationships/image" Target="../media/image74.png"/><Relationship Id="rId19" Type="http://schemas.openxmlformats.org/officeDocument/2006/relationships/image" Target="../media/image75.png"/><Relationship Id="rId20" Type="http://schemas.openxmlformats.org/officeDocument/2006/relationships/slideLayout" Target="../slideLayouts/slideLayout1.xml"/><Relationship Id="rId2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76.png"/><Relationship Id="rId2" Type="http://schemas.openxmlformats.org/officeDocument/2006/relationships/image" Target="../media/image77.png"/><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63.png"/><Relationship Id="rId6" Type="http://schemas.openxmlformats.org/officeDocument/2006/relationships/image" Target="../media/image80.png"/><Relationship Id="rId7" Type="http://schemas.openxmlformats.org/officeDocument/2006/relationships/image" Target="../media/image81.png"/><Relationship Id="rId8" Type="http://schemas.openxmlformats.org/officeDocument/2006/relationships/image" Target="../media/image82.png"/><Relationship Id="rId9" Type="http://schemas.openxmlformats.org/officeDocument/2006/relationships/image" Target="../media/image83.png"/><Relationship Id="rId10" Type="http://schemas.openxmlformats.org/officeDocument/2006/relationships/image" Target="../media/image84.png"/><Relationship Id="rId11" Type="http://schemas.openxmlformats.org/officeDocument/2006/relationships/image" Target="../media/image85.png"/><Relationship Id="rId12" Type="http://schemas.openxmlformats.org/officeDocument/2006/relationships/image" Target="../media/image41.png"/><Relationship Id="rId13" Type="http://schemas.openxmlformats.org/officeDocument/2006/relationships/image" Target="../media/image86.png"/><Relationship Id="rId14" Type="http://schemas.openxmlformats.org/officeDocument/2006/relationships/image" Target="../media/image87.png"/><Relationship Id="rId15" Type="http://schemas.openxmlformats.org/officeDocument/2006/relationships/slideLayout" Target="../slideLayouts/slideLayout1.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88.png"/><Relationship Id="rId2" Type="http://schemas.openxmlformats.org/officeDocument/2006/relationships/image" Target="../media/image89.png"/><Relationship Id="rId3" Type="http://schemas.openxmlformats.org/officeDocument/2006/relationships/image" Target="../media/image49.png"/><Relationship Id="rId4" Type="http://schemas.openxmlformats.org/officeDocument/2006/relationships/image" Target="../media/image78.png"/><Relationship Id="rId5" Type="http://schemas.openxmlformats.org/officeDocument/2006/relationships/image" Target="../media/image90.png"/><Relationship Id="rId6" Type="http://schemas.openxmlformats.org/officeDocument/2006/relationships/image" Target="../media/image91.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92.png"/><Relationship Id="rId2" Type="http://schemas.openxmlformats.org/officeDocument/2006/relationships/image" Target="../media/image93.png"/><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image" Target="../media/image98.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5" name=""/>
        <p:cNvGrpSpPr/>
        <p:nvPr/>
      </p:nvGrpSpPr>
      <p:grpSpPr>
        <a:xfrm>
          <a:off x="0" y="0"/>
          <a:ext cx="0" cy="0"/>
          <a:chOff x="0" y="0"/>
          <a:chExt cx="0" cy="0"/>
        </a:xfrm>
      </p:grpSpPr>
      <p:pic>
        <p:nvPicPr>
          <p:cNvPr id="2097152" name="Image 0" descr="preencoded.png"/>
          <p:cNvPicPr>
            <a:picLocks noChangeAspect="1"/>
          </p:cNvPicPr>
          <p:nvPr/>
        </p:nvPicPr>
        <p:blipFill>
          <a:blip xmlns:r="http://schemas.openxmlformats.org/officeDocument/2006/relationships" r:embed="rId1"/>
          <a:stretch>
            <a:fillRect/>
          </a:stretch>
        </p:blipFill>
        <p:spPr>
          <a:xfrm>
            <a:off x="0" y="0"/>
            <a:ext cx="9144000" cy="6172200"/>
          </a:xfrm>
          <a:prstGeom prst="rect"/>
        </p:spPr>
      </p:pic>
      <p:sp>
        <p:nvSpPr>
          <p:cNvPr id="1048576" name="Text 0"/>
          <p:cNvSpPr/>
          <p:nvPr/>
        </p:nvSpPr>
        <p:spPr>
          <a:xfrm>
            <a:off x="285750" y="763555"/>
            <a:ext cx="8572500" cy="990600"/>
          </a:xfrm>
          <a:prstGeom prst="rect"/>
          <a:noFill/>
        </p:spPr>
        <p:txBody>
          <a:bodyPr anchor="ctr" bIns="0" lIns="0" rIns="0" rtlCol="0" tIns="0" wrap="square">
            <a:spAutoFit/>
          </a:bodyPr>
          <a:p>
            <a:pPr algn="ctr" indent="0" marL="0">
              <a:buNone/>
            </a:pPr>
            <a:r>
              <a:rPr b="1" dirty="0" sz="4050" lang="en-US">
                <a:solidFill>
                  <a:srgbClr val="FFFFFF"/>
                </a:solidFill>
                <a:latin typeface="Noto Sans" pitchFamily="34" charset="0"/>
                <a:ea typeface="Noto Sans" pitchFamily="34" charset="-122"/>
                <a:cs typeface="Noto Sans" pitchFamily="34" charset="-120"/>
              </a:rPr>
              <a:t>AI-ML Driven Blood Supply Chain Optimization</a:t>
            </a:r>
            <a:endParaRPr dirty="0" sz="4050" lang="en-US"/>
          </a:p>
        </p:txBody>
      </p:sp>
      <p:sp>
        <p:nvSpPr>
          <p:cNvPr id="1048577" name="Text 1"/>
          <p:cNvSpPr/>
          <p:nvPr/>
        </p:nvSpPr>
        <p:spPr>
          <a:xfrm>
            <a:off x="285750" y="2076904"/>
            <a:ext cx="8572500" cy="241301"/>
          </a:xfrm>
          <a:prstGeom prst="rect"/>
          <a:noFill/>
        </p:spPr>
        <p:txBody>
          <a:bodyPr anchor="ctr" bIns="0" lIns="0" rIns="0" rtlCol="0" tIns="0" wrap="square">
            <a:spAutoFit/>
          </a:bodyPr>
          <a:p>
            <a:pPr algn="ctr" indent="0" marL="0">
              <a:buNone/>
            </a:pPr>
            <a:r>
              <a:rPr dirty="0" sz="2025" lang="en-US">
                <a:solidFill>
                  <a:srgbClr val="FFFFFF"/>
                </a:solidFill>
                <a:latin typeface="Noto Sans" pitchFamily="34" charset="0"/>
                <a:ea typeface="Noto Sans" pitchFamily="34" charset="-122"/>
                <a:cs typeface="Noto Sans" pitchFamily="34" charset="-120"/>
              </a:rPr>
              <a:t>Connecting Donors, Blood Banks, and Hospitals through Intelligent Systems</a:t>
            </a:r>
            <a:endParaRPr dirty="0" sz="2025" lang="en-US"/>
          </a:p>
        </p:txBody>
      </p:sp>
      <p:sp>
        <p:nvSpPr>
          <p:cNvPr id="1048578" name="TextBox 6"/>
          <p:cNvSpPr txBox="1"/>
          <p:nvPr/>
        </p:nvSpPr>
        <p:spPr>
          <a:xfrm>
            <a:off x="634404" y="4091108"/>
            <a:ext cx="4362060" cy="434340"/>
          </a:xfrm>
          <a:prstGeom prst="rect"/>
          <a:noFill/>
        </p:spPr>
        <p:txBody>
          <a:bodyPr wrap="square">
            <a:spAutoFit/>
          </a:bodyPr>
          <a:p>
            <a:pPr algn="l" indent="0" marL="0">
              <a:buNone/>
            </a:pPr>
            <a:r>
              <a:rPr dirty="0" sz="2400" lang="en-US">
                <a:solidFill>
                  <a:schemeClr val="tx1">
                    <a:lumMod val="95000"/>
                    <a:lumOff val="5000"/>
                  </a:schemeClr>
                </a:solidFill>
                <a:latin typeface="Noto Sans" pitchFamily="34" charset="0"/>
                <a:ea typeface="Noto Sans" pitchFamily="34" charset="-122"/>
                <a:cs typeface="Noto Sans" pitchFamily="34" charset="-120"/>
              </a:rPr>
              <a:t>ROLL.NO</a:t>
            </a:r>
            <a:r>
              <a:rPr dirty="0" sz="2800" lang="en-US">
                <a:solidFill>
                  <a:schemeClr val="tx1">
                    <a:lumMod val="95000"/>
                    <a:lumOff val="5000"/>
                  </a:schemeClr>
                </a:solidFill>
                <a:latin typeface="Noto Sans" pitchFamily="34" charset="0"/>
                <a:ea typeface="Noto Sans" pitchFamily="34" charset="-122"/>
                <a:cs typeface="Noto Sans" pitchFamily="34" charset="-120"/>
              </a:rPr>
              <a:t>: 322129512022</a:t>
            </a:r>
            <a:endParaRPr dirty="0" sz="2800" lang="en-US">
              <a:solidFill>
                <a:schemeClr val="tx1">
                  <a:lumMod val="95000"/>
                  <a:lumOff val="5000"/>
                </a:schemeClr>
              </a:solidFill>
            </a:endParaRPr>
          </a:p>
        </p:txBody>
      </p:sp>
      <p:sp>
        <p:nvSpPr>
          <p:cNvPr id="1048579" name="TextBox 9"/>
          <p:cNvSpPr txBox="1"/>
          <p:nvPr/>
        </p:nvSpPr>
        <p:spPr>
          <a:xfrm>
            <a:off x="634404" y="3558181"/>
            <a:ext cx="7406484" cy="523240"/>
          </a:xfrm>
          <a:prstGeom prst="rect"/>
          <a:noFill/>
        </p:spPr>
        <p:txBody>
          <a:bodyPr wrap="square">
            <a:spAutoFit/>
          </a:bodyPr>
          <a:p>
            <a:pPr indent="0" marL="0">
              <a:buNone/>
            </a:pPr>
            <a:r>
              <a:rPr dirty="0" sz="3600" lang="en-US">
                <a:solidFill>
                  <a:schemeClr val="tx1">
                    <a:lumMod val="95000"/>
                    <a:lumOff val="5000"/>
                  </a:schemeClr>
                </a:solidFill>
                <a:latin typeface="Noto Sans" pitchFamily="34" charset="0"/>
                <a:ea typeface="Noto Sans" pitchFamily="34" charset="-122"/>
                <a:cs typeface="Noto Sans" pitchFamily="34" charset="-120"/>
              </a:rPr>
              <a:t>NAME: </a:t>
            </a:r>
            <a:r>
              <a:rPr dirty="0" sz="3200" lang="en-US" err="1">
                <a:solidFill>
                  <a:schemeClr val="tx1">
                    <a:lumMod val="95000"/>
                    <a:lumOff val="5000"/>
                  </a:schemeClr>
                </a:solidFill>
                <a:latin typeface="Noto Sans" pitchFamily="34" charset="0"/>
                <a:ea typeface="Noto Sans" pitchFamily="34" charset="-122"/>
                <a:cs typeface="Noto Sans" pitchFamily="34" charset="-120"/>
              </a:rPr>
              <a:t>Janap</a:t>
            </a:r>
            <a:r>
              <a:rPr dirty="0" sz="3200" lang="en-US" err="1">
                <a:solidFill>
                  <a:schemeClr val="tx1">
                    <a:lumMod val="95000"/>
                    <a:lumOff val="5000"/>
                  </a:schemeClr>
                </a:solidFill>
                <a:latin typeface="Noto Sans" pitchFamily="34" charset="0"/>
                <a:ea typeface="Noto Sans" pitchFamily="34" charset="-122"/>
                <a:cs typeface="Noto Sans" pitchFamily="34" charset="-120"/>
              </a:rPr>
              <a:t>a</a:t>
            </a:r>
            <a:r>
              <a:rPr dirty="0" sz="3200" lang="en-US" err="1">
                <a:solidFill>
                  <a:schemeClr val="tx1">
                    <a:lumMod val="95000"/>
                    <a:lumOff val="5000"/>
                  </a:schemeClr>
                </a:solidFill>
                <a:latin typeface="Noto Sans" pitchFamily="34" charset="0"/>
                <a:ea typeface="Noto Sans" pitchFamily="34" charset="-122"/>
                <a:cs typeface="Noto Sans" pitchFamily="34" charset="-120"/>
              </a:rPr>
              <a:t>reddy</a:t>
            </a:r>
            <a:r>
              <a:rPr dirty="0" sz="3200" lang="en-US">
                <a:solidFill>
                  <a:schemeClr val="tx1">
                    <a:lumMod val="95000"/>
                    <a:lumOff val="5000"/>
                  </a:schemeClr>
                </a:solidFill>
                <a:latin typeface="Noto Sans" pitchFamily="34" charset="0"/>
                <a:ea typeface="Noto Sans" pitchFamily="34" charset="-122"/>
                <a:cs typeface="Noto Sans" pitchFamily="34" charset="-120"/>
              </a:rPr>
              <a:t> Lava Kumar</a:t>
            </a:r>
            <a:endParaRPr dirty="0" sz="3200" lang="en-US">
              <a:solidFill>
                <a:schemeClr val="tx1">
                  <a:lumMod val="95000"/>
                  <a:lumOff val="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8" name=""/>
        <p:cNvGrpSpPr/>
        <p:nvPr/>
      </p:nvGrpSpPr>
      <p:grpSpPr>
        <a:xfrm>
          <a:off x="0" y="0"/>
          <a:ext cx="0" cy="0"/>
          <a:chOff x="0" y="0"/>
          <a:chExt cx="0" cy="0"/>
        </a:xfrm>
      </p:grpSpPr>
      <p:pic>
        <p:nvPicPr>
          <p:cNvPr id="2097153" name="Image 0" descr="preencoded.png"/>
          <p:cNvPicPr>
            <a:picLocks noChangeAspect="1"/>
          </p:cNvPicPr>
          <p:nvPr/>
        </p:nvPicPr>
        <p:blipFill>
          <a:blip xmlns:r="http://schemas.openxmlformats.org/officeDocument/2006/relationships" r:embed="rId1"/>
          <a:stretch>
            <a:fillRect/>
          </a:stretch>
        </p:blipFill>
        <p:spPr>
          <a:xfrm>
            <a:off x="0" y="0"/>
            <a:ext cx="9144000" cy="5143500"/>
          </a:xfrm>
          <a:prstGeom prst="rect"/>
        </p:spPr>
      </p:pic>
      <p:sp>
        <p:nvSpPr>
          <p:cNvPr id="1048583" name="Text 0"/>
          <p:cNvSpPr/>
          <p:nvPr/>
        </p:nvSpPr>
        <p:spPr>
          <a:xfrm>
            <a:off x="285750" y="357981"/>
            <a:ext cx="1860798" cy="241301"/>
          </a:xfrm>
          <a:prstGeom prst="rect"/>
          <a:noFill/>
        </p:spPr>
        <p:txBody>
          <a:bodyPr anchor="ctr" bIns="0" lIns="0" rIns="0" rtlCol="0" tIns="0" wrap="none">
            <a:spAutoFit/>
          </a:bodyPr>
          <a:p>
            <a:pPr algn="ctr" indent="0" marL="0">
              <a:buNone/>
            </a:pPr>
            <a:r>
              <a:rPr b="1" dirty="0" sz="2025" lang="en-US">
                <a:solidFill>
                  <a:srgbClr val="0077B6"/>
                </a:solidFill>
                <a:latin typeface="Noto Sans" pitchFamily="34" charset="0"/>
                <a:ea typeface="Noto Sans" pitchFamily="34" charset="-122"/>
                <a:cs typeface="Noto Sans" pitchFamily="34" charset="-120"/>
              </a:rPr>
              <a:t>Problem Statement</a:t>
            </a:r>
            <a:endParaRPr dirty="0" sz="2025" lang="en-US"/>
          </a:p>
        </p:txBody>
      </p:sp>
      <p:pic>
        <p:nvPicPr>
          <p:cNvPr id="2097154" name="Image 1" descr="preencoded.png"/>
          <p:cNvPicPr>
            <a:picLocks noChangeAspect="1"/>
          </p:cNvPicPr>
          <p:nvPr/>
        </p:nvPicPr>
        <p:blipFill>
          <a:blip xmlns:r="http://schemas.openxmlformats.org/officeDocument/2006/relationships" r:embed="rId2"/>
          <a:stretch>
            <a:fillRect/>
          </a:stretch>
        </p:blipFill>
        <p:spPr>
          <a:xfrm>
            <a:off x="285750" y="921544"/>
            <a:ext cx="142875" cy="142875"/>
          </a:xfrm>
          <a:prstGeom prst="rect"/>
        </p:spPr>
      </p:pic>
      <p:sp>
        <p:nvSpPr>
          <p:cNvPr id="1048584" name="Text 1"/>
          <p:cNvSpPr/>
          <p:nvPr/>
        </p:nvSpPr>
        <p:spPr>
          <a:xfrm>
            <a:off x="537232" y="928588"/>
            <a:ext cx="1256010" cy="127001"/>
          </a:xfrm>
          <a:prstGeom prst="rect"/>
          <a:noFill/>
        </p:spPr>
        <p:txBody>
          <a:bodyPr anchor="ctr" bIns="0" lIns="0" rIns="0" rtlCol="0" tIns="0" wrap="none">
            <a:spAutoFit/>
          </a:bodyPr>
          <a:p>
            <a:pPr indent="0" marL="0">
              <a:buNone/>
            </a:pPr>
            <a:r>
              <a:rPr b="1" dirty="0" sz="1046" lang="en-US">
                <a:solidFill>
                  <a:srgbClr val="E63946"/>
                </a:solidFill>
                <a:latin typeface="Noto Sans" pitchFamily="34" charset="0"/>
                <a:ea typeface="Noto Sans" pitchFamily="34" charset="-122"/>
                <a:cs typeface="Noto Sans" pitchFamily="34" charset="-120"/>
              </a:rPr>
              <a:t>Fragmented Information:</a:t>
            </a:r>
            <a:endParaRPr dirty="0" sz="1046" lang="en-US"/>
          </a:p>
        </p:txBody>
      </p:sp>
      <p:sp>
        <p:nvSpPr>
          <p:cNvPr id="1048585" name="Text 2"/>
          <p:cNvSpPr/>
          <p:nvPr/>
        </p:nvSpPr>
        <p:spPr>
          <a:xfrm>
            <a:off x="285750" y="1176734"/>
            <a:ext cx="4123953" cy="254002"/>
          </a:xfrm>
          <a:prstGeom prst="rect"/>
          <a:noFill/>
        </p:spPr>
        <p:txBody>
          <a:bodyPr anchor="ctr" bIns="0" lIns="0" rIns="0" rtlCol="0" tIns="0" wrap="square">
            <a:spAutoFit/>
          </a:bodyPr>
          <a:p>
            <a:pPr indent="0" marL="0">
              <a:buNone/>
            </a:pPr>
            <a:r>
              <a:rPr dirty="0" sz="1046" lang="en-US">
                <a:solidFill>
                  <a:srgbClr val="333333"/>
                </a:solidFill>
                <a:latin typeface="Noto Sans" pitchFamily="34" charset="0"/>
                <a:ea typeface="Noto Sans" pitchFamily="34" charset="-122"/>
                <a:cs typeface="Noto Sans" pitchFamily="34" charset="-120"/>
              </a:rPr>
              <a:t> Existing systems rely on manual outreach and static registries that are slow to update.</a:t>
            </a:r>
            <a:endParaRPr dirty="0" sz="1046" lang="en-US"/>
          </a:p>
        </p:txBody>
      </p:sp>
      <p:pic>
        <p:nvPicPr>
          <p:cNvPr id="2097155" name="Image 2" descr="preencoded.png"/>
          <p:cNvPicPr>
            <a:picLocks noChangeAspect="1"/>
          </p:cNvPicPr>
          <p:nvPr/>
        </p:nvPicPr>
        <p:blipFill>
          <a:blip xmlns:r="http://schemas.openxmlformats.org/officeDocument/2006/relationships" r:embed="rId2"/>
          <a:stretch>
            <a:fillRect/>
          </a:stretch>
        </p:blipFill>
        <p:spPr>
          <a:xfrm>
            <a:off x="285750" y="1493044"/>
            <a:ext cx="142875" cy="142875"/>
          </a:xfrm>
          <a:prstGeom prst="rect"/>
        </p:spPr>
      </p:pic>
      <p:sp>
        <p:nvSpPr>
          <p:cNvPr id="1048586" name="Text 3"/>
          <p:cNvSpPr/>
          <p:nvPr/>
        </p:nvSpPr>
        <p:spPr>
          <a:xfrm>
            <a:off x="537232" y="1500088"/>
            <a:ext cx="1154956" cy="127001"/>
          </a:xfrm>
          <a:prstGeom prst="rect"/>
          <a:noFill/>
        </p:spPr>
        <p:txBody>
          <a:bodyPr anchor="ctr" bIns="0" lIns="0" rIns="0" rtlCol="0" tIns="0" wrap="none">
            <a:spAutoFit/>
          </a:bodyPr>
          <a:p>
            <a:pPr indent="0" marL="0">
              <a:buNone/>
            </a:pPr>
            <a:r>
              <a:rPr b="1" dirty="0" sz="1046" lang="en-US">
                <a:solidFill>
                  <a:srgbClr val="E63946"/>
                </a:solidFill>
                <a:latin typeface="Noto Sans" pitchFamily="34" charset="0"/>
                <a:ea typeface="Noto Sans" pitchFamily="34" charset="-122"/>
                <a:cs typeface="Noto Sans" pitchFamily="34" charset="-120"/>
              </a:rPr>
              <a:t>Unpredictable Demand:</a:t>
            </a:r>
            <a:endParaRPr dirty="0" sz="1046" lang="en-US"/>
          </a:p>
        </p:txBody>
      </p:sp>
      <p:sp>
        <p:nvSpPr>
          <p:cNvPr id="1048587" name="Text 4"/>
          <p:cNvSpPr/>
          <p:nvPr/>
        </p:nvSpPr>
        <p:spPr>
          <a:xfrm>
            <a:off x="285750" y="1772439"/>
            <a:ext cx="4160258" cy="254000"/>
          </a:xfrm>
          <a:prstGeom prst="rect"/>
          <a:noFill/>
        </p:spPr>
        <p:txBody>
          <a:bodyPr anchor="ctr" bIns="0" lIns="0" rIns="0" rtlCol="0" tIns="0" wrap="square">
            <a:spAutoFit/>
          </a:bodyPr>
          <a:p>
            <a:pPr indent="0" marL="0">
              <a:buNone/>
            </a:pPr>
            <a:r>
              <a:rPr dirty="0" sz="1046" lang="en-US">
                <a:solidFill>
                  <a:srgbClr val="333333"/>
                </a:solidFill>
                <a:latin typeface="Noto Sans" pitchFamily="34" charset="0"/>
                <a:ea typeface="Noto Sans" pitchFamily="34" charset="-122"/>
                <a:cs typeface="Noto Sans" pitchFamily="34" charset="-120"/>
              </a:rPr>
              <a:t> Blood banks struggle to forecast inventory needs across blood groups, components, and geographies.</a:t>
            </a:r>
            <a:endParaRPr dirty="0" sz="1046" lang="en-US"/>
          </a:p>
        </p:txBody>
      </p:sp>
      <p:pic>
        <p:nvPicPr>
          <p:cNvPr id="2097156" name="Image 3" descr="preencoded.png"/>
          <p:cNvPicPr>
            <a:picLocks noChangeAspect="1"/>
          </p:cNvPicPr>
          <p:nvPr/>
        </p:nvPicPr>
        <p:blipFill>
          <a:blip xmlns:r="http://schemas.openxmlformats.org/officeDocument/2006/relationships" r:embed="rId2"/>
          <a:stretch>
            <a:fillRect/>
          </a:stretch>
        </p:blipFill>
        <p:spPr>
          <a:xfrm>
            <a:off x="285750" y="2278856"/>
            <a:ext cx="142875" cy="142875"/>
          </a:xfrm>
          <a:prstGeom prst="rect"/>
        </p:spPr>
      </p:pic>
      <p:sp>
        <p:nvSpPr>
          <p:cNvPr id="1048588" name="Text 5"/>
          <p:cNvSpPr/>
          <p:nvPr/>
        </p:nvSpPr>
        <p:spPr>
          <a:xfrm>
            <a:off x="537232" y="2285900"/>
            <a:ext cx="1472307" cy="127001"/>
          </a:xfrm>
          <a:prstGeom prst="rect"/>
          <a:noFill/>
        </p:spPr>
        <p:txBody>
          <a:bodyPr anchor="ctr" bIns="0" lIns="0" rIns="0" rtlCol="0" tIns="0" wrap="none">
            <a:spAutoFit/>
          </a:bodyPr>
          <a:p>
            <a:pPr indent="0" marL="0">
              <a:buNone/>
            </a:pPr>
            <a:r>
              <a:rPr b="1" dirty="0" sz="1046" lang="en-US">
                <a:solidFill>
                  <a:srgbClr val="E63946"/>
                </a:solidFill>
                <a:latin typeface="Noto Sans" pitchFamily="34" charset="0"/>
                <a:ea typeface="Noto Sans" pitchFamily="34" charset="-122"/>
                <a:cs typeface="Noto Sans" pitchFamily="34" charset="-120"/>
              </a:rPr>
              <a:t>Delayed Donor Identification:</a:t>
            </a:r>
            <a:endParaRPr dirty="0" sz="1046" lang="en-US"/>
          </a:p>
        </p:txBody>
      </p:sp>
      <p:sp>
        <p:nvSpPr>
          <p:cNvPr id="1048589" name="Text 6"/>
          <p:cNvSpPr/>
          <p:nvPr/>
        </p:nvSpPr>
        <p:spPr>
          <a:xfrm>
            <a:off x="279471" y="2533419"/>
            <a:ext cx="3996398" cy="254000"/>
          </a:xfrm>
          <a:prstGeom prst="rect"/>
          <a:noFill/>
        </p:spPr>
        <p:txBody>
          <a:bodyPr anchor="ctr" bIns="0" lIns="0" rIns="0" rtlCol="0" tIns="0" wrap="square">
            <a:spAutoFit/>
          </a:bodyPr>
          <a:p>
            <a:pPr indent="0" marL="0">
              <a:buNone/>
            </a:pPr>
            <a:r>
              <a:rPr dirty="0" sz="1046" lang="en-US">
                <a:solidFill>
                  <a:srgbClr val="333333"/>
                </a:solidFill>
                <a:latin typeface="Noto Sans" pitchFamily="34" charset="0"/>
                <a:ea typeface="Noto Sans" pitchFamily="34" charset="-122"/>
                <a:cs typeface="Noto Sans" pitchFamily="34" charset="-120"/>
              </a:rPr>
              <a:t> Critical delays in finding compatible, nearby donors during time-sensitive scenarios.</a:t>
            </a:r>
            <a:endParaRPr dirty="0" sz="1046" lang="en-US"/>
          </a:p>
        </p:txBody>
      </p:sp>
      <p:pic>
        <p:nvPicPr>
          <p:cNvPr id="2097157" name="Image 4" descr="preencoded.png"/>
          <p:cNvPicPr>
            <a:picLocks noChangeAspect="1"/>
          </p:cNvPicPr>
          <p:nvPr/>
        </p:nvPicPr>
        <p:blipFill>
          <a:blip xmlns:r="http://schemas.openxmlformats.org/officeDocument/2006/relationships" r:embed="rId2"/>
          <a:stretch>
            <a:fillRect/>
          </a:stretch>
        </p:blipFill>
        <p:spPr>
          <a:xfrm>
            <a:off x="285750" y="2850356"/>
            <a:ext cx="142875" cy="142875"/>
          </a:xfrm>
          <a:prstGeom prst="rect"/>
        </p:spPr>
      </p:pic>
      <p:sp>
        <p:nvSpPr>
          <p:cNvPr id="1048590" name="Text 7"/>
          <p:cNvSpPr/>
          <p:nvPr/>
        </p:nvSpPr>
        <p:spPr>
          <a:xfrm>
            <a:off x="537232" y="2857400"/>
            <a:ext cx="1283841" cy="127001"/>
          </a:xfrm>
          <a:prstGeom prst="rect"/>
          <a:noFill/>
        </p:spPr>
        <p:txBody>
          <a:bodyPr anchor="ctr" bIns="0" lIns="0" rIns="0" rtlCol="0" tIns="0" wrap="none">
            <a:spAutoFit/>
          </a:bodyPr>
          <a:p>
            <a:pPr indent="0" marL="0">
              <a:buNone/>
            </a:pPr>
            <a:r>
              <a:rPr b="1" dirty="0" sz="1046" lang="en-US">
                <a:solidFill>
                  <a:srgbClr val="E63946"/>
                </a:solidFill>
                <a:latin typeface="Noto Sans" pitchFamily="34" charset="0"/>
                <a:ea typeface="Noto Sans" pitchFamily="34" charset="-122"/>
                <a:cs typeface="Noto Sans" pitchFamily="34" charset="-120"/>
              </a:rPr>
              <a:t>Lack of Unified Interface:</a:t>
            </a:r>
            <a:endParaRPr dirty="0" sz="1046" lang="en-US"/>
          </a:p>
        </p:txBody>
      </p:sp>
      <p:sp>
        <p:nvSpPr>
          <p:cNvPr id="1048591" name="Text 8"/>
          <p:cNvSpPr/>
          <p:nvPr/>
        </p:nvSpPr>
        <p:spPr>
          <a:xfrm>
            <a:off x="312176" y="3146315"/>
            <a:ext cx="3983841" cy="127000"/>
          </a:xfrm>
          <a:prstGeom prst="rect"/>
          <a:noFill/>
        </p:spPr>
        <p:txBody>
          <a:bodyPr anchor="ctr" bIns="0" lIns="0" rIns="0" rtlCol="0" tIns="0" wrap="square">
            <a:spAutoFit/>
          </a:bodyPr>
          <a:p>
            <a:pPr indent="0" marL="0">
              <a:buNone/>
            </a:pPr>
            <a:r>
              <a:rPr dirty="0" sz="1046" lang="en-US">
                <a:solidFill>
                  <a:srgbClr val="333333"/>
                </a:solidFill>
                <a:latin typeface="Noto Sans" pitchFamily="34" charset="0"/>
                <a:ea typeface="Noto Sans" pitchFamily="34" charset="-122"/>
                <a:cs typeface="Noto Sans" pitchFamily="34" charset="-120"/>
              </a:rPr>
              <a:t> Hospitals cannot view cross-bank inventory or trigger timely requests.</a:t>
            </a:r>
            <a:endParaRPr dirty="0" sz="1046" lang="en-US"/>
          </a:p>
        </p:txBody>
      </p:sp>
      <p:pic>
        <p:nvPicPr>
          <p:cNvPr id="2097158" name="Image 5" descr="preencoded.png"/>
          <p:cNvPicPr>
            <a:picLocks noChangeAspect="1"/>
          </p:cNvPicPr>
          <p:nvPr/>
        </p:nvPicPr>
        <p:blipFill>
          <a:blip xmlns:r="http://schemas.openxmlformats.org/officeDocument/2006/relationships" r:embed="rId2"/>
          <a:stretch>
            <a:fillRect/>
          </a:stretch>
        </p:blipFill>
        <p:spPr>
          <a:xfrm>
            <a:off x="285750" y="3421856"/>
            <a:ext cx="142875" cy="142875"/>
          </a:xfrm>
          <a:prstGeom prst="rect"/>
        </p:spPr>
      </p:pic>
      <p:sp>
        <p:nvSpPr>
          <p:cNvPr id="1048592" name="Text 9"/>
          <p:cNvSpPr/>
          <p:nvPr/>
        </p:nvSpPr>
        <p:spPr>
          <a:xfrm>
            <a:off x="537232" y="3428900"/>
            <a:ext cx="742157" cy="127001"/>
          </a:xfrm>
          <a:prstGeom prst="rect"/>
          <a:noFill/>
        </p:spPr>
        <p:txBody>
          <a:bodyPr anchor="ctr" bIns="0" lIns="0" rIns="0" rtlCol="0" tIns="0" wrap="none">
            <a:spAutoFit/>
          </a:bodyPr>
          <a:p>
            <a:pPr indent="0" marL="0">
              <a:buNone/>
            </a:pPr>
            <a:r>
              <a:rPr b="1" dirty="0" sz="1046" lang="en-US">
                <a:solidFill>
                  <a:srgbClr val="E63946"/>
                </a:solidFill>
                <a:latin typeface="Noto Sans" pitchFamily="34" charset="0"/>
                <a:ea typeface="Noto Sans" pitchFamily="34" charset="-122"/>
                <a:cs typeface="Noto Sans" pitchFamily="34" charset="-120"/>
              </a:rPr>
              <a:t>Consequences:</a:t>
            </a:r>
            <a:endParaRPr dirty="0" sz="1046" lang="en-US"/>
          </a:p>
        </p:txBody>
      </p:sp>
      <p:sp>
        <p:nvSpPr>
          <p:cNvPr id="1048593" name="Text 10"/>
          <p:cNvSpPr/>
          <p:nvPr/>
        </p:nvSpPr>
        <p:spPr>
          <a:xfrm>
            <a:off x="298962" y="3677046"/>
            <a:ext cx="4010267" cy="254000"/>
          </a:xfrm>
          <a:prstGeom prst="rect"/>
          <a:noFill/>
        </p:spPr>
        <p:txBody>
          <a:bodyPr anchor="ctr" bIns="0" lIns="0" rIns="0" rtlCol="0" tIns="0" wrap="square">
            <a:spAutoFit/>
          </a:bodyPr>
          <a:p>
            <a:pPr indent="0" marL="0">
              <a:buNone/>
            </a:pPr>
            <a:r>
              <a:rPr dirty="0" sz="1046" lang="en-US">
                <a:solidFill>
                  <a:srgbClr val="333333"/>
                </a:solidFill>
                <a:latin typeface="Noto Sans" pitchFamily="34" charset="0"/>
                <a:ea typeface="Noto Sans" pitchFamily="34" charset="-122"/>
                <a:cs typeface="Noto Sans" pitchFamily="34" charset="-120"/>
              </a:rPr>
              <a:t> Units expire unused in one region while shortages occur in another, leading to avoidable morbidity and mortality.</a:t>
            </a:r>
            <a:endParaRPr dirty="0" sz="1046" lang="en-US"/>
          </a:p>
        </p:txBody>
      </p:sp>
      <p:pic>
        <p:nvPicPr>
          <p:cNvPr id="2097159" name="Image 6" descr="preencoded.png"/>
          <p:cNvPicPr>
            <a:picLocks noChangeAspect="1"/>
          </p:cNvPicPr>
          <p:nvPr/>
        </p:nvPicPr>
        <p:blipFill>
          <a:blip xmlns:r="http://schemas.openxmlformats.org/officeDocument/2006/relationships" r:embed="rId3"/>
          <a:stretch>
            <a:fillRect/>
          </a:stretch>
        </p:blipFill>
        <p:spPr>
          <a:xfrm>
            <a:off x="4768453" y="1728788"/>
            <a:ext cx="4000500" cy="2286000"/>
          </a:xfrm>
          <a:prstGeom prst="rec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1" name=""/>
        <p:cNvGrpSpPr/>
        <p:nvPr/>
      </p:nvGrpSpPr>
      <p:grpSpPr>
        <a:xfrm>
          <a:off x="0" y="0"/>
          <a:ext cx="0" cy="0"/>
          <a:chOff x="0" y="0"/>
          <a:chExt cx="0" cy="0"/>
        </a:xfrm>
      </p:grpSpPr>
      <p:pic>
        <p:nvPicPr>
          <p:cNvPr id="2097160" name="Image 0" descr="preencoded.png"/>
          <p:cNvPicPr>
            <a:picLocks noChangeAspect="1"/>
          </p:cNvPicPr>
          <p:nvPr/>
        </p:nvPicPr>
        <p:blipFill>
          <a:blip xmlns:r="http://schemas.openxmlformats.org/officeDocument/2006/relationships" r:embed="rId1"/>
          <a:stretch>
            <a:fillRect/>
          </a:stretch>
        </p:blipFill>
        <p:spPr>
          <a:xfrm>
            <a:off x="0" y="0"/>
            <a:ext cx="9144000" cy="5693569"/>
          </a:xfrm>
          <a:prstGeom prst="rect"/>
        </p:spPr>
      </p:pic>
      <p:sp>
        <p:nvSpPr>
          <p:cNvPr id="1048597" name="Text 0"/>
          <p:cNvSpPr/>
          <p:nvPr/>
        </p:nvSpPr>
        <p:spPr>
          <a:xfrm>
            <a:off x="285750" y="357981"/>
            <a:ext cx="3163540" cy="241301"/>
          </a:xfrm>
          <a:prstGeom prst="rect"/>
          <a:noFill/>
        </p:spPr>
        <p:txBody>
          <a:bodyPr anchor="ctr" bIns="0" lIns="0" rIns="0" rtlCol="0" tIns="0" wrap="none">
            <a:spAutoFit/>
          </a:bodyPr>
          <a:p>
            <a:pPr algn="ctr" indent="0" marL="0">
              <a:buNone/>
            </a:pPr>
            <a:r>
              <a:rPr b="1" dirty="0" sz="2025" lang="en-US">
                <a:solidFill>
                  <a:srgbClr val="0077B6"/>
                </a:solidFill>
                <a:latin typeface="Noto Sans" pitchFamily="34" charset="0"/>
                <a:ea typeface="Noto Sans" pitchFamily="34" charset="-122"/>
                <a:cs typeface="Noto Sans" pitchFamily="34" charset="-120"/>
              </a:rPr>
              <a:t>Target Community &amp; User Needs</a:t>
            </a:r>
            <a:endParaRPr dirty="0" sz="2025" lang="en-US"/>
          </a:p>
        </p:txBody>
      </p:sp>
      <p:sp>
        <p:nvSpPr>
          <p:cNvPr id="1048598" name="Shape 1"/>
          <p:cNvSpPr/>
          <p:nvPr/>
        </p:nvSpPr>
        <p:spPr>
          <a:xfrm>
            <a:off x="285750" y="885825"/>
            <a:ext cx="4179094" cy="1364456"/>
          </a:xfrm>
          <a:prstGeom prst="rect"/>
          <a:solidFill>
            <a:srgbClr val="F8F9FA"/>
          </a:solidFill>
        </p:spPr>
      </p:sp>
      <p:sp>
        <p:nvSpPr>
          <p:cNvPr id="1048599" name="Shape 2"/>
          <p:cNvSpPr/>
          <p:nvPr/>
        </p:nvSpPr>
        <p:spPr>
          <a:xfrm>
            <a:off x="285750" y="885825"/>
            <a:ext cx="35719" cy="1364456"/>
          </a:xfrm>
          <a:prstGeom prst="rect"/>
          <a:solidFill>
            <a:srgbClr val="0077B6"/>
          </a:solidFill>
        </p:spPr>
      </p:sp>
      <p:pic>
        <p:nvPicPr>
          <p:cNvPr id="2097161" name="Image 1" descr="preencoded.png"/>
          <p:cNvPicPr>
            <a:picLocks noChangeAspect="1"/>
          </p:cNvPicPr>
          <p:nvPr/>
        </p:nvPicPr>
        <p:blipFill>
          <a:blip xmlns:r="http://schemas.openxmlformats.org/officeDocument/2006/relationships" r:embed="rId2"/>
          <a:stretch>
            <a:fillRect/>
          </a:stretch>
        </p:blipFill>
        <p:spPr>
          <a:xfrm>
            <a:off x="428625" y="1071563"/>
            <a:ext cx="150019" cy="171450"/>
          </a:xfrm>
          <a:prstGeom prst="rect"/>
        </p:spPr>
      </p:pic>
      <p:sp>
        <p:nvSpPr>
          <p:cNvPr id="1048600" name="Text 3"/>
          <p:cNvSpPr/>
          <p:nvPr/>
        </p:nvSpPr>
        <p:spPr>
          <a:xfrm>
            <a:off x="650081" y="1074737"/>
            <a:ext cx="990600" cy="165101"/>
          </a:xfrm>
          <a:prstGeom prst="rect"/>
          <a:noFill/>
        </p:spPr>
        <p:txBody>
          <a:bodyPr anchor="ctr" bIns="0" lIns="0" rIns="0" rtlCol="0" tIns="0" wrap="none">
            <a:spAutoFit/>
          </a:bodyPr>
          <a:p>
            <a:pPr indent="0" marL="0">
              <a:buNone/>
            </a:pPr>
            <a:r>
              <a:rPr b="1" dirty="0" sz="1350" lang="en-US">
                <a:solidFill>
                  <a:srgbClr val="0077B6"/>
                </a:solidFill>
                <a:latin typeface="Noto Sans" pitchFamily="34" charset="0"/>
                <a:ea typeface="Noto Sans" pitchFamily="34" charset="-122"/>
                <a:cs typeface="Noto Sans" pitchFamily="34" charset="-120"/>
              </a:rPr>
              <a:t> Willing Donors </a:t>
            </a:r>
            <a:endParaRPr dirty="0" sz="1350" lang="en-US"/>
          </a:p>
        </p:txBody>
      </p:sp>
      <p:sp>
        <p:nvSpPr>
          <p:cNvPr id="1048601" name="Text 4"/>
          <p:cNvSpPr/>
          <p:nvPr/>
        </p:nvSpPr>
        <p:spPr>
          <a:xfrm>
            <a:off x="428625" y="1396603"/>
            <a:ext cx="1749872" cy="114301"/>
          </a:xfrm>
          <a:prstGeom prst="rect"/>
          <a:noFill/>
        </p:spPr>
        <p:txBody>
          <a:bodyPr anchor="ctr" bIns="0" lIns="0" rIns="0" rtlCol="0" tIns="0" wrap="none">
            <a:spAutoFit/>
          </a:bodyPr>
          <a:p>
            <a:pPr algn="l" indent="0" marL="0">
              <a:buNone/>
            </a:pPr>
            <a:r>
              <a:rPr dirty="0" sz="942" lang="en-US">
                <a:solidFill>
                  <a:srgbClr val="333333"/>
                </a:solidFill>
                <a:latin typeface="Noto Sans" pitchFamily="34" charset="0"/>
                <a:ea typeface="Noto Sans" pitchFamily="34" charset="-122"/>
                <a:cs typeface="Noto Sans" pitchFamily="34" charset="-120"/>
              </a:rPr>
              <a:t>Proactive engagement at the right time</a:t>
            </a:r>
            <a:endParaRPr dirty="0" sz="942" lang="en-US"/>
          </a:p>
        </p:txBody>
      </p:sp>
      <p:sp>
        <p:nvSpPr>
          <p:cNvPr id="1048602" name="Text 5"/>
          <p:cNvSpPr/>
          <p:nvPr/>
        </p:nvSpPr>
        <p:spPr>
          <a:xfrm>
            <a:off x="428625" y="1646634"/>
            <a:ext cx="1870819" cy="114301"/>
          </a:xfrm>
          <a:prstGeom prst="rect"/>
          <a:noFill/>
        </p:spPr>
        <p:txBody>
          <a:bodyPr anchor="ctr" bIns="0" lIns="0" rIns="0" rtlCol="0" tIns="0" wrap="none">
            <a:spAutoFit/>
          </a:bodyPr>
          <a:p>
            <a:pPr algn="l" indent="0" marL="0">
              <a:buNone/>
            </a:pPr>
            <a:r>
              <a:rPr dirty="0" sz="942" lang="en-US">
                <a:solidFill>
                  <a:srgbClr val="333333"/>
                </a:solidFill>
                <a:latin typeface="Noto Sans" pitchFamily="34" charset="0"/>
                <a:ea typeface="Noto Sans" pitchFamily="34" charset="-122"/>
                <a:cs typeface="Noto Sans" pitchFamily="34" charset="-120"/>
              </a:rPr>
              <a:t>Optimal routing to nearest donation center</a:t>
            </a:r>
            <a:endParaRPr dirty="0" sz="942" lang="en-US"/>
          </a:p>
        </p:txBody>
      </p:sp>
      <p:sp>
        <p:nvSpPr>
          <p:cNvPr id="1048603" name="Text 6"/>
          <p:cNvSpPr/>
          <p:nvPr/>
        </p:nvSpPr>
        <p:spPr>
          <a:xfrm>
            <a:off x="428625" y="1896665"/>
            <a:ext cx="1646684" cy="114301"/>
          </a:xfrm>
          <a:prstGeom prst="rect"/>
          <a:noFill/>
        </p:spPr>
        <p:txBody>
          <a:bodyPr anchor="ctr" bIns="0" lIns="0" rIns="0" rtlCol="0" tIns="0" wrap="none">
            <a:spAutoFit/>
          </a:bodyPr>
          <a:p>
            <a:pPr algn="l" indent="0" marL="0">
              <a:buNone/>
            </a:pPr>
            <a:r>
              <a:rPr dirty="0" sz="942" lang="en-US">
                <a:solidFill>
                  <a:srgbClr val="333333"/>
                </a:solidFill>
                <a:latin typeface="Noto Sans" pitchFamily="34" charset="0"/>
                <a:ea typeface="Noto Sans" pitchFamily="34" charset="-122"/>
                <a:cs typeface="Noto Sans" pitchFamily="34" charset="-120"/>
              </a:rPr>
              <a:t>Transparent donation impact tracking</a:t>
            </a:r>
            <a:endParaRPr dirty="0" sz="942" lang="en-US"/>
          </a:p>
        </p:txBody>
      </p:sp>
      <p:sp>
        <p:nvSpPr>
          <p:cNvPr id="1048604" name="Shape 7"/>
          <p:cNvSpPr/>
          <p:nvPr/>
        </p:nvSpPr>
        <p:spPr>
          <a:xfrm>
            <a:off x="285750" y="2393156"/>
            <a:ext cx="4179094" cy="1364456"/>
          </a:xfrm>
          <a:prstGeom prst="rect"/>
          <a:solidFill>
            <a:srgbClr val="F8F9FA"/>
          </a:solidFill>
        </p:spPr>
      </p:sp>
      <p:sp>
        <p:nvSpPr>
          <p:cNvPr id="1048605" name="Shape 8"/>
          <p:cNvSpPr/>
          <p:nvPr/>
        </p:nvSpPr>
        <p:spPr>
          <a:xfrm>
            <a:off x="285750" y="2393156"/>
            <a:ext cx="35719" cy="1364456"/>
          </a:xfrm>
          <a:prstGeom prst="rect"/>
          <a:solidFill>
            <a:srgbClr val="0077B6"/>
          </a:solidFill>
        </p:spPr>
      </p:sp>
      <p:pic>
        <p:nvPicPr>
          <p:cNvPr id="2097162" name="Image 2" descr="preencoded.png"/>
          <p:cNvPicPr>
            <a:picLocks noChangeAspect="1"/>
          </p:cNvPicPr>
          <p:nvPr/>
        </p:nvPicPr>
        <p:blipFill>
          <a:blip xmlns:r="http://schemas.openxmlformats.org/officeDocument/2006/relationships" r:embed="rId3"/>
          <a:stretch>
            <a:fillRect/>
          </a:stretch>
        </p:blipFill>
        <p:spPr>
          <a:xfrm>
            <a:off x="428625" y="2578894"/>
            <a:ext cx="128588" cy="171450"/>
          </a:xfrm>
          <a:prstGeom prst="rect"/>
        </p:spPr>
      </p:pic>
      <p:sp>
        <p:nvSpPr>
          <p:cNvPr id="1048606" name="Text 9"/>
          <p:cNvSpPr/>
          <p:nvPr/>
        </p:nvSpPr>
        <p:spPr>
          <a:xfrm>
            <a:off x="628650" y="2582068"/>
            <a:ext cx="838200" cy="165101"/>
          </a:xfrm>
          <a:prstGeom prst="rect"/>
          <a:noFill/>
        </p:spPr>
        <p:txBody>
          <a:bodyPr anchor="ctr" bIns="0" lIns="0" rIns="0" rtlCol="0" tIns="0" wrap="none">
            <a:spAutoFit/>
          </a:bodyPr>
          <a:p>
            <a:pPr indent="0" marL="0">
              <a:buNone/>
            </a:pPr>
            <a:r>
              <a:rPr b="1" dirty="0" sz="1350" lang="en-US">
                <a:solidFill>
                  <a:srgbClr val="0077B6"/>
                </a:solidFill>
                <a:latin typeface="Noto Sans" pitchFamily="34" charset="0"/>
                <a:ea typeface="Noto Sans" pitchFamily="34" charset="-122"/>
                <a:cs typeface="Noto Sans" pitchFamily="34" charset="-120"/>
              </a:rPr>
              <a:t> Blood Banks </a:t>
            </a:r>
            <a:endParaRPr dirty="0" sz="1350" lang="en-US"/>
          </a:p>
        </p:txBody>
      </p:sp>
      <p:sp>
        <p:nvSpPr>
          <p:cNvPr id="1048607" name="Text 10"/>
          <p:cNvSpPr/>
          <p:nvPr/>
        </p:nvSpPr>
        <p:spPr>
          <a:xfrm>
            <a:off x="428625" y="2903934"/>
            <a:ext cx="2585691" cy="114301"/>
          </a:xfrm>
          <a:prstGeom prst="rect"/>
          <a:noFill/>
        </p:spPr>
        <p:txBody>
          <a:bodyPr anchor="ctr" bIns="0" lIns="0" rIns="0" rtlCol="0" tIns="0" wrap="none">
            <a:spAutoFit/>
          </a:bodyPr>
          <a:p>
            <a:pPr algn="l" indent="0" marL="0">
              <a:buNone/>
            </a:pPr>
            <a:r>
              <a:rPr dirty="0" sz="942" lang="en-US">
                <a:solidFill>
                  <a:srgbClr val="333333"/>
                </a:solidFill>
                <a:latin typeface="Noto Sans" pitchFamily="34" charset="0"/>
                <a:ea typeface="Noto Sans" pitchFamily="34" charset="-122"/>
                <a:cs typeface="Noto Sans" pitchFamily="34" charset="-120"/>
              </a:rPr>
              <a:t>Accurate inventory forecasting by blood group/component</a:t>
            </a:r>
            <a:endParaRPr dirty="0" sz="942" lang="en-US"/>
          </a:p>
        </p:txBody>
      </p:sp>
      <p:sp>
        <p:nvSpPr>
          <p:cNvPr id="1048608" name="Text 11"/>
          <p:cNvSpPr/>
          <p:nvPr/>
        </p:nvSpPr>
        <p:spPr>
          <a:xfrm>
            <a:off x="428625" y="3153965"/>
            <a:ext cx="1567706" cy="114301"/>
          </a:xfrm>
          <a:prstGeom prst="rect"/>
          <a:noFill/>
        </p:spPr>
        <p:txBody>
          <a:bodyPr anchor="ctr" bIns="0" lIns="0" rIns="0" rtlCol="0" tIns="0" wrap="none">
            <a:spAutoFit/>
          </a:bodyPr>
          <a:p>
            <a:pPr algn="l" indent="0" marL="0">
              <a:buNone/>
            </a:pPr>
            <a:r>
              <a:rPr dirty="0" sz="942" lang="en-US">
                <a:solidFill>
                  <a:srgbClr val="333333"/>
                </a:solidFill>
                <a:latin typeface="Noto Sans" pitchFamily="34" charset="0"/>
                <a:ea typeface="Noto Sans" pitchFamily="34" charset="-122"/>
                <a:cs typeface="Noto Sans" pitchFamily="34" charset="-120"/>
              </a:rPr>
              <a:t>Real-time inventory synchronization</a:t>
            </a:r>
            <a:endParaRPr dirty="0" sz="942" lang="en-US"/>
          </a:p>
        </p:txBody>
      </p:sp>
      <p:sp>
        <p:nvSpPr>
          <p:cNvPr id="1048609" name="Text 12"/>
          <p:cNvSpPr/>
          <p:nvPr/>
        </p:nvSpPr>
        <p:spPr>
          <a:xfrm>
            <a:off x="428625" y="3403996"/>
            <a:ext cx="1967260" cy="114301"/>
          </a:xfrm>
          <a:prstGeom prst="rect"/>
          <a:noFill/>
        </p:spPr>
        <p:txBody>
          <a:bodyPr anchor="ctr" bIns="0" lIns="0" rIns="0" rtlCol="0" tIns="0" wrap="none">
            <a:spAutoFit/>
          </a:bodyPr>
          <a:p>
            <a:pPr algn="l" indent="0" marL="0">
              <a:buNone/>
            </a:pPr>
            <a:r>
              <a:rPr dirty="0" sz="942" lang="en-US">
                <a:solidFill>
                  <a:srgbClr val="333333"/>
                </a:solidFill>
                <a:latin typeface="Noto Sans" pitchFamily="34" charset="0"/>
                <a:ea typeface="Noto Sans" pitchFamily="34" charset="-122"/>
                <a:cs typeface="Noto Sans" pitchFamily="34" charset="-120"/>
              </a:rPr>
              <a:t>Efficient donor management and scheduling</a:t>
            </a:r>
            <a:endParaRPr dirty="0" sz="942" lang="en-US"/>
          </a:p>
        </p:txBody>
      </p:sp>
      <p:sp>
        <p:nvSpPr>
          <p:cNvPr id="1048610" name="Shape 13"/>
          <p:cNvSpPr/>
          <p:nvPr/>
        </p:nvSpPr>
        <p:spPr>
          <a:xfrm>
            <a:off x="285750" y="3900488"/>
            <a:ext cx="4179094" cy="1364456"/>
          </a:xfrm>
          <a:prstGeom prst="rect"/>
          <a:solidFill>
            <a:srgbClr val="F8F9FA"/>
          </a:solidFill>
        </p:spPr>
      </p:sp>
      <p:sp>
        <p:nvSpPr>
          <p:cNvPr id="1048611" name="Shape 14"/>
          <p:cNvSpPr/>
          <p:nvPr/>
        </p:nvSpPr>
        <p:spPr>
          <a:xfrm>
            <a:off x="285750" y="3900488"/>
            <a:ext cx="35719" cy="1364456"/>
          </a:xfrm>
          <a:prstGeom prst="rect"/>
          <a:solidFill>
            <a:srgbClr val="0077B6"/>
          </a:solidFill>
        </p:spPr>
      </p:sp>
      <p:pic>
        <p:nvPicPr>
          <p:cNvPr id="2097163" name="Image 3" descr="preencoded.png"/>
          <p:cNvPicPr>
            <a:picLocks noChangeAspect="1"/>
          </p:cNvPicPr>
          <p:nvPr/>
        </p:nvPicPr>
        <p:blipFill>
          <a:blip xmlns:r="http://schemas.openxmlformats.org/officeDocument/2006/relationships" r:embed="rId4"/>
          <a:stretch>
            <a:fillRect/>
          </a:stretch>
        </p:blipFill>
        <p:spPr>
          <a:xfrm>
            <a:off x="428625" y="4086225"/>
            <a:ext cx="214313" cy="171450"/>
          </a:xfrm>
          <a:prstGeom prst="rect"/>
        </p:spPr>
      </p:pic>
      <p:sp>
        <p:nvSpPr>
          <p:cNvPr id="1048612" name="Text 15"/>
          <p:cNvSpPr/>
          <p:nvPr/>
        </p:nvSpPr>
        <p:spPr>
          <a:xfrm>
            <a:off x="714375" y="4089400"/>
            <a:ext cx="635001" cy="165101"/>
          </a:xfrm>
          <a:prstGeom prst="rect"/>
          <a:noFill/>
        </p:spPr>
        <p:txBody>
          <a:bodyPr anchor="ctr" bIns="0" lIns="0" rIns="0" rtlCol="0" tIns="0" wrap="none">
            <a:spAutoFit/>
          </a:bodyPr>
          <a:p>
            <a:pPr indent="0" marL="0">
              <a:buNone/>
            </a:pPr>
            <a:r>
              <a:rPr b="1" dirty="0" sz="1350" lang="en-US">
                <a:solidFill>
                  <a:srgbClr val="0077B6"/>
                </a:solidFill>
                <a:latin typeface="Noto Sans" pitchFamily="34" charset="0"/>
                <a:ea typeface="Noto Sans" pitchFamily="34" charset="-122"/>
                <a:cs typeface="Noto Sans" pitchFamily="34" charset="-120"/>
              </a:rPr>
              <a:t> Hospitals </a:t>
            </a:r>
            <a:endParaRPr dirty="0" sz="1350" lang="en-US"/>
          </a:p>
        </p:txBody>
      </p:sp>
      <p:sp>
        <p:nvSpPr>
          <p:cNvPr id="1048613" name="Text 16"/>
          <p:cNvSpPr/>
          <p:nvPr/>
        </p:nvSpPr>
        <p:spPr>
          <a:xfrm>
            <a:off x="428625" y="4411265"/>
            <a:ext cx="2014538" cy="114301"/>
          </a:xfrm>
          <a:prstGeom prst="rect"/>
          <a:noFill/>
        </p:spPr>
        <p:txBody>
          <a:bodyPr anchor="ctr" bIns="0" lIns="0" rIns="0" rtlCol="0" tIns="0" wrap="none">
            <a:spAutoFit/>
          </a:bodyPr>
          <a:p>
            <a:pPr algn="l" indent="0" marL="0">
              <a:buNone/>
            </a:pPr>
            <a:r>
              <a:rPr dirty="0" sz="942" lang="en-US">
                <a:solidFill>
                  <a:srgbClr val="333333"/>
                </a:solidFill>
                <a:latin typeface="Noto Sans" pitchFamily="34" charset="0"/>
                <a:ea typeface="Noto Sans" pitchFamily="34" charset="-122"/>
                <a:cs typeface="Noto Sans" pitchFamily="34" charset="-120"/>
              </a:rPr>
              <a:t>Unified interface to view cross-bank inventory</a:t>
            </a:r>
            <a:endParaRPr dirty="0" sz="942" lang="en-US"/>
          </a:p>
        </p:txBody>
      </p:sp>
      <p:sp>
        <p:nvSpPr>
          <p:cNvPr id="1048614" name="Text 17"/>
          <p:cNvSpPr/>
          <p:nvPr/>
        </p:nvSpPr>
        <p:spPr>
          <a:xfrm>
            <a:off x="428625" y="4661296"/>
            <a:ext cx="1736576" cy="114301"/>
          </a:xfrm>
          <a:prstGeom prst="rect"/>
          <a:noFill/>
        </p:spPr>
        <p:txBody>
          <a:bodyPr anchor="ctr" bIns="0" lIns="0" rIns="0" rtlCol="0" tIns="0" wrap="none">
            <a:spAutoFit/>
          </a:bodyPr>
          <a:p>
            <a:pPr algn="l" indent="0" marL="0">
              <a:buNone/>
            </a:pPr>
            <a:r>
              <a:rPr dirty="0" sz="942" lang="en-US">
                <a:solidFill>
                  <a:srgbClr val="333333"/>
                </a:solidFill>
                <a:latin typeface="Noto Sans" pitchFamily="34" charset="0"/>
                <a:ea typeface="Noto Sans" pitchFamily="34" charset="-122"/>
                <a:cs typeface="Noto Sans" pitchFamily="34" charset="-120"/>
              </a:rPr>
              <a:t>Ability to trigger timely blood requests</a:t>
            </a:r>
            <a:endParaRPr dirty="0" sz="942" lang="en-US"/>
          </a:p>
        </p:txBody>
      </p:sp>
      <p:sp>
        <p:nvSpPr>
          <p:cNvPr id="1048615" name="Text 18"/>
          <p:cNvSpPr/>
          <p:nvPr/>
        </p:nvSpPr>
        <p:spPr>
          <a:xfrm>
            <a:off x="428625" y="4911328"/>
            <a:ext cx="1892102" cy="114301"/>
          </a:xfrm>
          <a:prstGeom prst="rect"/>
          <a:noFill/>
        </p:spPr>
        <p:txBody>
          <a:bodyPr anchor="ctr" bIns="0" lIns="0" rIns="0" rtlCol="0" tIns="0" wrap="none">
            <a:spAutoFit/>
          </a:bodyPr>
          <a:p>
            <a:pPr algn="l" indent="0" marL="0">
              <a:buNone/>
            </a:pPr>
            <a:r>
              <a:rPr dirty="0" sz="942" lang="en-US">
                <a:solidFill>
                  <a:srgbClr val="333333"/>
                </a:solidFill>
                <a:latin typeface="Noto Sans" pitchFamily="34" charset="0"/>
                <a:ea typeface="Noto Sans" pitchFamily="34" charset="-122"/>
                <a:cs typeface="Noto Sans" pitchFamily="34" charset="-120"/>
              </a:rPr>
              <a:t>Fast, equitable access to blood components</a:t>
            </a:r>
            <a:endParaRPr dirty="0" sz="942" lang="en-US"/>
          </a:p>
        </p:txBody>
      </p:sp>
      <p:pic>
        <p:nvPicPr>
          <p:cNvPr id="2097164" name="Image 4" descr="preencoded.png"/>
          <p:cNvPicPr>
            <a:picLocks noChangeAspect="1"/>
          </p:cNvPicPr>
          <p:nvPr/>
        </p:nvPicPr>
        <p:blipFill>
          <a:blip xmlns:r="http://schemas.openxmlformats.org/officeDocument/2006/relationships" r:embed="rId5"/>
          <a:stretch>
            <a:fillRect/>
          </a:stretch>
        </p:blipFill>
        <p:spPr>
          <a:xfrm>
            <a:off x="4750594" y="1407319"/>
            <a:ext cx="4036219" cy="3479006"/>
          </a:xfrm>
          <a:prstGeom prst="rec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24" name=""/>
        <p:cNvGrpSpPr/>
        <p:nvPr/>
      </p:nvGrpSpPr>
      <p:grpSpPr>
        <a:xfrm>
          <a:off x="0" y="0"/>
          <a:ext cx="0" cy="0"/>
          <a:chOff x="0" y="0"/>
          <a:chExt cx="0" cy="0"/>
        </a:xfrm>
      </p:grpSpPr>
      <p:pic>
        <p:nvPicPr>
          <p:cNvPr id="2097165" name="Image 0" descr="preencoded.png"/>
          <p:cNvPicPr>
            <a:picLocks noChangeAspect="1"/>
          </p:cNvPicPr>
          <p:nvPr/>
        </p:nvPicPr>
        <p:blipFill>
          <a:blip xmlns:r="http://schemas.openxmlformats.org/officeDocument/2006/relationships" r:embed="rId1"/>
          <a:stretch>
            <a:fillRect/>
          </a:stretch>
        </p:blipFill>
        <p:spPr>
          <a:xfrm>
            <a:off x="0" y="0"/>
            <a:ext cx="9144000" cy="6022181"/>
          </a:xfrm>
          <a:prstGeom prst="rect"/>
        </p:spPr>
      </p:pic>
      <p:sp>
        <p:nvSpPr>
          <p:cNvPr id="1048619" name="Text 0"/>
          <p:cNvSpPr/>
          <p:nvPr/>
        </p:nvSpPr>
        <p:spPr>
          <a:xfrm>
            <a:off x="285750" y="357981"/>
            <a:ext cx="1682750" cy="241301"/>
          </a:xfrm>
          <a:prstGeom prst="rect"/>
          <a:noFill/>
        </p:spPr>
        <p:txBody>
          <a:bodyPr anchor="ctr" bIns="0" lIns="0" rIns="0" rtlCol="0" tIns="0" wrap="none">
            <a:spAutoFit/>
          </a:bodyPr>
          <a:p>
            <a:pPr algn="ctr" indent="0" marL="0">
              <a:buNone/>
            </a:pPr>
            <a:r>
              <a:rPr b="1" dirty="0" sz="2025" lang="en-US">
                <a:solidFill>
                  <a:srgbClr val="0077B6"/>
                </a:solidFill>
                <a:latin typeface="Noto Sans" pitchFamily="34" charset="0"/>
                <a:ea typeface="Noto Sans" pitchFamily="34" charset="-122"/>
                <a:cs typeface="Noto Sans" pitchFamily="34" charset="-120"/>
              </a:rPr>
              <a:t>Solution Blueprint</a:t>
            </a:r>
            <a:endParaRPr dirty="0" sz="2025" lang="en-US"/>
          </a:p>
        </p:txBody>
      </p:sp>
      <p:pic>
        <p:nvPicPr>
          <p:cNvPr id="2097166" name="Image 1" descr="preencoded.png"/>
          <p:cNvPicPr>
            <a:picLocks noChangeAspect="1"/>
          </p:cNvPicPr>
          <p:nvPr/>
        </p:nvPicPr>
        <p:blipFill>
          <a:blip xmlns:r="http://schemas.openxmlformats.org/officeDocument/2006/relationships" r:embed="rId2"/>
          <a:stretch>
            <a:fillRect/>
          </a:stretch>
        </p:blipFill>
        <p:spPr>
          <a:xfrm>
            <a:off x="285750" y="925116"/>
            <a:ext cx="176808" cy="157163"/>
          </a:xfrm>
          <a:prstGeom prst="rect"/>
        </p:spPr>
      </p:pic>
      <p:sp>
        <p:nvSpPr>
          <p:cNvPr id="1048620" name="Text 1"/>
          <p:cNvSpPr/>
          <p:nvPr/>
        </p:nvSpPr>
        <p:spPr>
          <a:xfrm>
            <a:off x="533995" y="933847"/>
            <a:ext cx="1179116" cy="139700"/>
          </a:xfrm>
          <a:prstGeom prst="rect"/>
          <a:noFill/>
        </p:spPr>
        <p:txBody>
          <a:bodyPr anchor="ctr" bIns="0" lIns="0" rIns="0" rtlCol="0" tIns="0" wrap="none">
            <a:spAutoFit/>
          </a:bodyPr>
          <a:p>
            <a:pPr indent="0" marL="0">
              <a:buNone/>
            </a:pPr>
            <a:r>
              <a:rPr b="1" dirty="0" sz="1238" lang="en-US">
                <a:solidFill>
                  <a:srgbClr val="0077B6"/>
                </a:solidFill>
                <a:latin typeface="Noto Sans" pitchFamily="34" charset="0"/>
                <a:ea typeface="Noto Sans" pitchFamily="34" charset="-122"/>
                <a:cs typeface="Noto Sans" pitchFamily="34" charset="-120"/>
              </a:rPr>
              <a:t> Presentation Layer </a:t>
            </a:r>
            <a:endParaRPr dirty="0" sz="1238" lang="en-US"/>
          </a:p>
        </p:txBody>
      </p:sp>
      <p:sp>
        <p:nvSpPr>
          <p:cNvPr id="1048621" name="Shape 2"/>
          <p:cNvSpPr/>
          <p:nvPr/>
        </p:nvSpPr>
        <p:spPr>
          <a:xfrm>
            <a:off x="285750" y="1193006"/>
            <a:ext cx="4179094" cy="964406"/>
          </a:xfrm>
          <a:prstGeom prst="rect"/>
          <a:solidFill>
            <a:srgbClr val="F8F9FA"/>
          </a:solidFill>
        </p:spPr>
      </p:sp>
      <p:pic>
        <p:nvPicPr>
          <p:cNvPr id="2097167" name="Image 2" descr="preencoded.png"/>
          <p:cNvPicPr>
            <a:picLocks noChangeAspect="1"/>
          </p:cNvPicPr>
          <p:nvPr/>
        </p:nvPicPr>
        <p:blipFill>
          <a:blip xmlns:r="http://schemas.openxmlformats.org/officeDocument/2006/relationships" r:embed="rId3"/>
          <a:stretch>
            <a:fillRect/>
          </a:stretch>
        </p:blipFill>
        <p:spPr>
          <a:xfrm>
            <a:off x="392906" y="1339453"/>
            <a:ext cx="85725" cy="114300"/>
          </a:xfrm>
          <a:prstGeom prst="rect"/>
        </p:spPr>
      </p:pic>
      <p:sp>
        <p:nvSpPr>
          <p:cNvPr id="1048622" name="Text 3"/>
          <p:cNvSpPr/>
          <p:nvPr/>
        </p:nvSpPr>
        <p:spPr>
          <a:xfrm>
            <a:off x="550069" y="1339453"/>
            <a:ext cx="1091407"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Donor Mobile Application </a:t>
            </a:r>
            <a:endParaRPr dirty="0" sz="942" lang="en-US"/>
          </a:p>
        </p:txBody>
      </p:sp>
      <p:pic>
        <p:nvPicPr>
          <p:cNvPr id="2097168" name="Image 3" descr="preencoded.png"/>
          <p:cNvPicPr>
            <a:picLocks noChangeAspect="1"/>
          </p:cNvPicPr>
          <p:nvPr/>
        </p:nvPicPr>
        <p:blipFill>
          <a:blip xmlns:r="http://schemas.openxmlformats.org/officeDocument/2006/relationships" r:embed="rId4"/>
          <a:stretch>
            <a:fillRect/>
          </a:stretch>
        </p:blipFill>
        <p:spPr>
          <a:xfrm>
            <a:off x="392906" y="1589484"/>
            <a:ext cx="142875" cy="114300"/>
          </a:xfrm>
          <a:prstGeom prst="rect"/>
        </p:spPr>
      </p:pic>
      <p:sp>
        <p:nvSpPr>
          <p:cNvPr id="1048623" name="Text 4"/>
          <p:cNvSpPr/>
          <p:nvPr/>
        </p:nvSpPr>
        <p:spPr>
          <a:xfrm>
            <a:off x="607219" y="1589484"/>
            <a:ext cx="1049884"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Blood Bank Web Portal </a:t>
            </a:r>
            <a:endParaRPr dirty="0" sz="942" lang="en-US"/>
          </a:p>
        </p:txBody>
      </p:sp>
      <p:pic>
        <p:nvPicPr>
          <p:cNvPr id="2097169" name="Image 4" descr="preencoded.png"/>
          <p:cNvPicPr>
            <a:picLocks noChangeAspect="1"/>
          </p:cNvPicPr>
          <p:nvPr/>
        </p:nvPicPr>
        <p:blipFill>
          <a:blip xmlns:r="http://schemas.openxmlformats.org/officeDocument/2006/relationships" r:embed="rId5"/>
          <a:stretch>
            <a:fillRect/>
          </a:stretch>
        </p:blipFill>
        <p:spPr>
          <a:xfrm>
            <a:off x="392906" y="1839516"/>
            <a:ext cx="128588" cy="114300"/>
          </a:xfrm>
          <a:prstGeom prst="rect"/>
        </p:spPr>
      </p:pic>
      <p:sp>
        <p:nvSpPr>
          <p:cNvPr id="1048624" name="Text 5"/>
          <p:cNvSpPr/>
          <p:nvPr/>
        </p:nvSpPr>
        <p:spPr>
          <a:xfrm>
            <a:off x="592931" y="1839515"/>
            <a:ext cx="897484"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Hospital Web Portal </a:t>
            </a:r>
            <a:endParaRPr dirty="0" sz="942" lang="en-US"/>
          </a:p>
        </p:txBody>
      </p:sp>
      <p:pic>
        <p:nvPicPr>
          <p:cNvPr id="2097170" name="Image 5" descr="preencoded.png"/>
          <p:cNvPicPr>
            <a:picLocks noChangeAspect="1"/>
          </p:cNvPicPr>
          <p:nvPr/>
        </p:nvPicPr>
        <p:blipFill>
          <a:blip xmlns:r="http://schemas.openxmlformats.org/officeDocument/2006/relationships" r:embed="rId6"/>
          <a:stretch>
            <a:fillRect/>
          </a:stretch>
        </p:blipFill>
        <p:spPr>
          <a:xfrm>
            <a:off x="285750" y="2375297"/>
            <a:ext cx="196453" cy="157163"/>
          </a:xfrm>
          <a:prstGeom prst="rect"/>
        </p:spPr>
      </p:pic>
      <p:sp>
        <p:nvSpPr>
          <p:cNvPr id="1048625" name="Text 6"/>
          <p:cNvSpPr/>
          <p:nvPr/>
        </p:nvSpPr>
        <p:spPr>
          <a:xfrm>
            <a:off x="553641" y="2384027"/>
            <a:ext cx="1040309" cy="139702"/>
          </a:xfrm>
          <a:prstGeom prst="rect"/>
          <a:noFill/>
        </p:spPr>
        <p:txBody>
          <a:bodyPr anchor="ctr" bIns="0" lIns="0" rIns="0" rtlCol="0" tIns="0" wrap="none">
            <a:spAutoFit/>
          </a:bodyPr>
          <a:p>
            <a:pPr indent="0" marL="0">
              <a:buNone/>
            </a:pPr>
            <a:r>
              <a:rPr b="1" dirty="0" sz="1238" lang="en-US">
                <a:solidFill>
                  <a:srgbClr val="0077B6"/>
                </a:solidFill>
                <a:latin typeface="Noto Sans" pitchFamily="34" charset="0"/>
                <a:ea typeface="Noto Sans" pitchFamily="34" charset="-122"/>
                <a:cs typeface="Noto Sans" pitchFamily="34" charset="-120"/>
              </a:rPr>
              <a:t> Application Layer </a:t>
            </a:r>
            <a:endParaRPr dirty="0" sz="1238" lang="en-US"/>
          </a:p>
        </p:txBody>
      </p:sp>
      <p:sp>
        <p:nvSpPr>
          <p:cNvPr id="1048626" name="Shape 7"/>
          <p:cNvSpPr/>
          <p:nvPr/>
        </p:nvSpPr>
        <p:spPr>
          <a:xfrm>
            <a:off x="285750" y="2643188"/>
            <a:ext cx="4179094" cy="1464469"/>
          </a:xfrm>
          <a:prstGeom prst="rect"/>
          <a:solidFill>
            <a:srgbClr val="F8F9FA"/>
          </a:solidFill>
        </p:spPr>
      </p:sp>
      <p:pic>
        <p:nvPicPr>
          <p:cNvPr id="2097171" name="Image 6" descr="preencoded.png"/>
          <p:cNvPicPr>
            <a:picLocks noChangeAspect="1"/>
          </p:cNvPicPr>
          <p:nvPr/>
        </p:nvPicPr>
        <p:blipFill>
          <a:blip xmlns:r="http://schemas.openxmlformats.org/officeDocument/2006/relationships" r:embed="rId7"/>
          <a:stretch>
            <a:fillRect/>
          </a:stretch>
        </p:blipFill>
        <p:spPr>
          <a:xfrm>
            <a:off x="392906" y="2789634"/>
            <a:ext cx="142875" cy="114300"/>
          </a:xfrm>
          <a:prstGeom prst="rect"/>
        </p:spPr>
      </p:pic>
      <p:sp>
        <p:nvSpPr>
          <p:cNvPr id="1048627" name="Text 8"/>
          <p:cNvSpPr/>
          <p:nvPr/>
        </p:nvSpPr>
        <p:spPr>
          <a:xfrm>
            <a:off x="607219" y="2789634"/>
            <a:ext cx="1178471"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User Management Service </a:t>
            </a:r>
            <a:endParaRPr dirty="0" sz="942" lang="en-US"/>
          </a:p>
        </p:txBody>
      </p:sp>
      <p:pic>
        <p:nvPicPr>
          <p:cNvPr id="2097172" name="Image 7" descr="preencoded.png"/>
          <p:cNvPicPr>
            <a:picLocks noChangeAspect="1"/>
          </p:cNvPicPr>
          <p:nvPr/>
        </p:nvPicPr>
        <p:blipFill>
          <a:blip xmlns:r="http://schemas.openxmlformats.org/officeDocument/2006/relationships" r:embed="rId8"/>
          <a:stretch>
            <a:fillRect/>
          </a:stretch>
        </p:blipFill>
        <p:spPr>
          <a:xfrm>
            <a:off x="392906" y="3039666"/>
            <a:ext cx="100013" cy="114300"/>
          </a:xfrm>
          <a:prstGeom prst="rect"/>
        </p:spPr>
      </p:pic>
      <p:sp>
        <p:nvSpPr>
          <p:cNvPr id="1048628" name="Text 9"/>
          <p:cNvSpPr/>
          <p:nvPr/>
        </p:nvSpPr>
        <p:spPr>
          <a:xfrm>
            <a:off x="564356" y="3039665"/>
            <a:ext cx="1403202"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Inventory Management Service </a:t>
            </a:r>
            <a:endParaRPr dirty="0" sz="942" lang="en-US"/>
          </a:p>
        </p:txBody>
      </p:sp>
      <p:pic>
        <p:nvPicPr>
          <p:cNvPr id="2097173" name="Image 8" descr="preencoded.png"/>
          <p:cNvPicPr>
            <a:picLocks noChangeAspect="1"/>
          </p:cNvPicPr>
          <p:nvPr/>
        </p:nvPicPr>
        <p:blipFill>
          <a:blip xmlns:r="http://schemas.openxmlformats.org/officeDocument/2006/relationships" r:embed="rId9"/>
          <a:stretch>
            <a:fillRect/>
          </a:stretch>
        </p:blipFill>
        <p:spPr>
          <a:xfrm>
            <a:off x="392906" y="3289697"/>
            <a:ext cx="114300" cy="114300"/>
          </a:xfrm>
          <a:prstGeom prst="rect"/>
        </p:spPr>
      </p:pic>
      <p:sp>
        <p:nvSpPr>
          <p:cNvPr id="1048629" name="Text 10"/>
          <p:cNvSpPr/>
          <p:nvPr/>
        </p:nvSpPr>
        <p:spPr>
          <a:xfrm>
            <a:off x="578644" y="3289696"/>
            <a:ext cx="1558777"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Demand Prediction Service (AI/ML) </a:t>
            </a:r>
            <a:endParaRPr dirty="0" sz="942" lang="en-US"/>
          </a:p>
        </p:txBody>
      </p:sp>
      <p:pic>
        <p:nvPicPr>
          <p:cNvPr id="2097174" name="Image 9" descr="preencoded.png"/>
          <p:cNvPicPr>
            <a:picLocks noChangeAspect="1"/>
          </p:cNvPicPr>
          <p:nvPr/>
        </p:nvPicPr>
        <p:blipFill>
          <a:blip xmlns:r="http://schemas.openxmlformats.org/officeDocument/2006/relationships" r:embed="rId10"/>
          <a:stretch>
            <a:fillRect/>
          </a:stretch>
        </p:blipFill>
        <p:spPr>
          <a:xfrm>
            <a:off x="392906" y="3539728"/>
            <a:ext cx="142875" cy="114300"/>
          </a:xfrm>
          <a:prstGeom prst="rect"/>
        </p:spPr>
      </p:pic>
      <p:sp>
        <p:nvSpPr>
          <p:cNvPr id="1048630" name="Text 11"/>
          <p:cNvSpPr/>
          <p:nvPr/>
        </p:nvSpPr>
        <p:spPr>
          <a:xfrm>
            <a:off x="607219" y="3539728"/>
            <a:ext cx="1559471"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Donor Engagement Service (AI/ML) </a:t>
            </a:r>
            <a:endParaRPr dirty="0" sz="942" lang="en-US"/>
          </a:p>
        </p:txBody>
      </p:sp>
      <p:pic>
        <p:nvPicPr>
          <p:cNvPr id="2097175" name="Image 10" descr="preencoded.png"/>
          <p:cNvPicPr>
            <a:picLocks noChangeAspect="1"/>
          </p:cNvPicPr>
          <p:nvPr/>
        </p:nvPicPr>
        <p:blipFill>
          <a:blip xmlns:r="http://schemas.openxmlformats.org/officeDocument/2006/relationships" r:embed="rId11"/>
          <a:stretch>
            <a:fillRect/>
          </a:stretch>
        </p:blipFill>
        <p:spPr>
          <a:xfrm>
            <a:off x="392906" y="3789759"/>
            <a:ext cx="114300" cy="114300"/>
          </a:xfrm>
          <a:prstGeom prst="rect"/>
        </p:spPr>
      </p:pic>
      <p:sp>
        <p:nvSpPr>
          <p:cNvPr id="1048631" name="Text 12"/>
          <p:cNvSpPr/>
          <p:nvPr/>
        </p:nvSpPr>
        <p:spPr>
          <a:xfrm>
            <a:off x="578644" y="3789759"/>
            <a:ext cx="1480791"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Matching &amp; Prioritization Service </a:t>
            </a:r>
            <a:endParaRPr dirty="0" sz="942" lang="en-US"/>
          </a:p>
        </p:txBody>
      </p:sp>
      <p:pic>
        <p:nvPicPr>
          <p:cNvPr id="2097176" name="Image 11" descr="preencoded.png"/>
          <p:cNvPicPr>
            <a:picLocks noChangeAspect="1"/>
          </p:cNvPicPr>
          <p:nvPr/>
        </p:nvPicPr>
        <p:blipFill>
          <a:blip xmlns:r="http://schemas.openxmlformats.org/officeDocument/2006/relationships" r:embed="rId12"/>
          <a:stretch>
            <a:fillRect/>
          </a:stretch>
        </p:blipFill>
        <p:spPr>
          <a:xfrm>
            <a:off x="285750" y="4325541"/>
            <a:ext cx="157163" cy="157163"/>
          </a:xfrm>
          <a:prstGeom prst="rect"/>
        </p:spPr>
      </p:pic>
      <p:sp>
        <p:nvSpPr>
          <p:cNvPr id="1048632" name="Text 13"/>
          <p:cNvSpPr/>
          <p:nvPr/>
        </p:nvSpPr>
        <p:spPr>
          <a:xfrm>
            <a:off x="514350" y="4334272"/>
            <a:ext cx="1364854" cy="139700"/>
          </a:xfrm>
          <a:prstGeom prst="rect"/>
          <a:noFill/>
        </p:spPr>
        <p:txBody>
          <a:bodyPr anchor="ctr" bIns="0" lIns="0" rIns="0" rtlCol="0" tIns="0" wrap="none">
            <a:spAutoFit/>
          </a:bodyPr>
          <a:p>
            <a:pPr indent="0" marL="0">
              <a:buNone/>
            </a:pPr>
            <a:r>
              <a:rPr b="1" dirty="0" sz="1238" lang="en-US">
                <a:solidFill>
                  <a:srgbClr val="0077B6"/>
                </a:solidFill>
                <a:latin typeface="Noto Sans" pitchFamily="34" charset="0"/>
                <a:ea typeface="Noto Sans" pitchFamily="34" charset="-122"/>
                <a:cs typeface="Noto Sans" pitchFamily="34" charset="-120"/>
              </a:rPr>
              <a:t> Data &amp; Infrastructure </a:t>
            </a:r>
            <a:endParaRPr dirty="0" sz="1238" lang="en-US"/>
          </a:p>
        </p:txBody>
      </p:sp>
      <p:sp>
        <p:nvSpPr>
          <p:cNvPr id="1048633" name="Shape 14"/>
          <p:cNvSpPr/>
          <p:nvPr/>
        </p:nvSpPr>
        <p:spPr>
          <a:xfrm>
            <a:off x="285750" y="4593431"/>
            <a:ext cx="4179094" cy="964406"/>
          </a:xfrm>
          <a:prstGeom prst="rect"/>
          <a:solidFill>
            <a:srgbClr val="F8F9FA"/>
          </a:solidFill>
        </p:spPr>
      </p:sp>
      <p:pic>
        <p:nvPicPr>
          <p:cNvPr id="2097177" name="Image 12" descr="preencoded.png"/>
          <p:cNvPicPr>
            <a:picLocks noChangeAspect="1"/>
          </p:cNvPicPr>
          <p:nvPr/>
        </p:nvPicPr>
        <p:blipFill>
          <a:blip xmlns:r="http://schemas.openxmlformats.org/officeDocument/2006/relationships" r:embed="rId8"/>
          <a:stretch>
            <a:fillRect/>
          </a:stretch>
        </p:blipFill>
        <p:spPr>
          <a:xfrm>
            <a:off x="392906" y="4739878"/>
            <a:ext cx="100013" cy="114300"/>
          </a:xfrm>
          <a:prstGeom prst="rect"/>
        </p:spPr>
      </p:pic>
      <p:sp>
        <p:nvSpPr>
          <p:cNvPr id="1048634" name="Text 15"/>
          <p:cNvSpPr/>
          <p:nvPr/>
        </p:nvSpPr>
        <p:spPr>
          <a:xfrm>
            <a:off x="564356" y="4739878"/>
            <a:ext cx="1368277"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Relational &amp; NoSQL Databases </a:t>
            </a:r>
            <a:endParaRPr dirty="0" sz="942" lang="en-US"/>
          </a:p>
        </p:txBody>
      </p:sp>
      <p:pic>
        <p:nvPicPr>
          <p:cNvPr id="2097178" name="Image 13" descr="preencoded.png"/>
          <p:cNvPicPr>
            <a:picLocks noChangeAspect="1"/>
          </p:cNvPicPr>
          <p:nvPr/>
        </p:nvPicPr>
        <p:blipFill>
          <a:blip xmlns:r="http://schemas.openxmlformats.org/officeDocument/2006/relationships" r:embed="rId13"/>
          <a:stretch>
            <a:fillRect/>
          </a:stretch>
        </p:blipFill>
        <p:spPr>
          <a:xfrm>
            <a:off x="392906" y="4989909"/>
            <a:ext cx="142875" cy="114300"/>
          </a:xfrm>
          <a:prstGeom prst="rect"/>
        </p:spPr>
      </p:pic>
      <p:sp>
        <p:nvSpPr>
          <p:cNvPr id="1048635" name="Text 16"/>
          <p:cNvSpPr/>
          <p:nvPr/>
        </p:nvSpPr>
        <p:spPr>
          <a:xfrm>
            <a:off x="607219" y="4989909"/>
            <a:ext cx="1130300"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Cloud-based Deployment </a:t>
            </a:r>
            <a:endParaRPr dirty="0" sz="942" lang="en-US"/>
          </a:p>
        </p:txBody>
      </p:sp>
      <p:pic>
        <p:nvPicPr>
          <p:cNvPr id="2097179" name="Image 14" descr="preencoded.png"/>
          <p:cNvPicPr>
            <a:picLocks noChangeAspect="1"/>
          </p:cNvPicPr>
          <p:nvPr/>
        </p:nvPicPr>
        <p:blipFill>
          <a:blip xmlns:r="http://schemas.openxmlformats.org/officeDocument/2006/relationships" r:embed="rId14"/>
          <a:stretch>
            <a:fillRect/>
          </a:stretch>
        </p:blipFill>
        <p:spPr>
          <a:xfrm>
            <a:off x="392906" y="5239941"/>
            <a:ext cx="114300" cy="114300"/>
          </a:xfrm>
          <a:prstGeom prst="rect"/>
        </p:spPr>
      </p:pic>
      <p:sp>
        <p:nvSpPr>
          <p:cNvPr id="1048636" name="Text 17"/>
          <p:cNvSpPr/>
          <p:nvPr/>
        </p:nvSpPr>
        <p:spPr>
          <a:xfrm>
            <a:off x="578644" y="5239940"/>
            <a:ext cx="925166"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End-to-End Security </a:t>
            </a:r>
            <a:endParaRPr dirty="0" sz="942" lang="en-US"/>
          </a:p>
        </p:txBody>
      </p:sp>
      <p:pic>
        <p:nvPicPr>
          <p:cNvPr id="2097180" name="Image 15" descr="preencoded.png"/>
          <p:cNvPicPr>
            <a:picLocks noChangeAspect="1"/>
          </p:cNvPicPr>
          <p:nvPr/>
        </p:nvPicPr>
        <p:blipFill>
          <a:blip xmlns:r="http://schemas.openxmlformats.org/officeDocument/2006/relationships" r:embed="rId15"/>
          <a:stretch>
            <a:fillRect/>
          </a:stretch>
        </p:blipFill>
        <p:spPr>
          <a:xfrm>
            <a:off x="5002690" y="1346597"/>
            <a:ext cx="3532026" cy="3929035"/>
          </a:xfrm>
          <a:prstGeom prst="rec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27" name=""/>
        <p:cNvGrpSpPr/>
        <p:nvPr/>
      </p:nvGrpSpPr>
      <p:grpSpPr>
        <a:xfrm>
          <a:off x="0" y="0"/>
          <a:ext cx="0" cy="0"/>
          <a:chOff x="0" y="0"/>
          <a:chExt cx="0" cy="0"/>
        </a:xfrm>
      </p:grpSpPr>
      <p:pic>
        <p:nvPicPr>
          <p:cNvPr id="2097181" name="Image 0" descr="preencoded.png"/>
          <p:cNvPicPr>
            <a:picLocks noChangeAspect="1"/>
          </p:cNvPicPr>
          <p:nvPr/>
        </p:nvPicPr>
        <p:blipFill>
          <a:blip xmlns:r="http://schemas.openxmlformats.org/officeDocument/2006/relationships" r:embed="rId1"/>
          <a:stretch>
            <a:fillRect/>
          </a:stretch>
        </p:blipFill>
        <p:spPr>
          <a:xfrm>
            <a:off x="0" y="0"/>
            <a:ext cx="9144000" cy="6150769"/>
          </a:xfrm>
          <a:prstGeom prst="rect"/>
        </p:spPr>
      </p:pic>
      <p:sp>
        <p:nvSpPr>
          <p:cNvPr id="1048640" name="Text 0"/>
          <p:cNvSpPr/>
          <p:nvPr/>
        </p:nvSpPr>
        <p:spPr>
          <a:xfrm>
            <a:off x="285750" y="357981"/>
            <a:ext cx="1710432" cy="241301"/>
          </a:xfrm>
          <a:prstGeom prst="rect"/>
          <a:noFill/>
        </p:spPr>
        <p:txBody>
          <a:bodyPr anchor="ctr" bIns="0" lIns="0" rIns="0" rtlCol="0" tIns="0" wrap="none">
            <a:spAutoFit/>
          </a:bodyPr>
          <a:p>
            <a:pPr algn="ctr" indent="0" marL="0">
              <a:buNone/>
            </a:pPr>
            <a:r>
              <a:rPr b="1" dirty="0" sz="2025" lang="en-US">
                <a:solidFill>
                  <a:srgbClr val="0077B6"/>
                </a:solidFill>
                <a:latin typeface="Noto Sans" pitchFamily="34" charset="0"/>
                <a:ea typeface="Noto Sans" pitchFamily="34" charset="-122"/>
                <a:cs typeface="Noto Sans" pitchFamily="34" charset="-120"/>
              </a:rPr>
              <a:t>Technology Stack</a:t>
            </a:r>
            <a:endParaRPr dirty="0" sz="2025" lang="en-US"/>
          </a:p>
        </p:txBody>
      </p:sp>
      <p:pic>
        <p:nvPicPr>
          <p:cNvPr id="2097182" name="Image 1" descr="preencoded.png"/>
          <p:cNvPicPr>
            <a:picLocks noChangeAspect="1"/>
          </p:cNvPicPr>
          <p:nvPr/>
        </p:nvPicPr>
        <p:blipFill>
          <a:blip xmlns:r="http://schemas.openxmlformats.org/officeDocument/2006/relationships" r:embed="rId2"/>
          <a:stretch>
            <a:fillRect/>
          </a:stretch>
        </p:blipFill>
        <p:spPr>
          <a:xfrm>
            <a:off x="285750" y="928688"/>
            <a:ext cx="171450" cy="171450"/>
          </a:xfrm>
          <a:prstGeom prst="rect"/>
        </p:spPr>
      </p:pic>
      <p:sp>
        <p:nvSpPr>
          <p:cNvPr id="1048641" name="Text 1"/>
          <p:cNvSpPr/>
          <p:nvPr/>
        </p:nvSpPr>
        <p:spPr>
          <a:xfrm>
            <a:off x="528638" y="931862"/>
            <a:ext cx="605781" cy="165101"/>
          </a:xfrm>
          <a:prstGeom prst="rect"/>
          <a:noFill/>
        </p:spPr>
        <p:txBody>
          <a:bodyPr anchor="ctr" bIns="0" lIns="0" rIns="0" rtlCol="0" tIns="0" wrap="none">
            <a:spAutoFit/>
          </a:bodyPr>
          <a:p>
            <a:pPr indent="0" marL="0">
              <a:buNone/>
            </a:pPr>
            <a:r>
              <a:rPr b="1" dirty="0" sz="1350" lang="en-US">
                <a:solidFill>
                  <a:srgbClr val="0077B6"/>
                </a:solidFill>
                <a:latin typeface="Noto Sans" pitchFamily="34" charset="0"/>
                <a:ea typeface="Noto Sans" pitchFamily="34" charset="-122"/>
                <a:cs typeface="Noto Sans" pitchFamily="34" charset="-120"/>
              </a:rPr>
              <a:t> Backend </a:t>
            </a:r>
            <a:endParaRPr dirty="0" sz="1350" lang="en-US"/>
          </a:p>
        </p:txBody>
      </p:sp>
      <p:sp>
        <p:nvSpPr>
          <p:cNvPr id="1048642" name="Shape 2"/>
          <p:cNvSpPr/>
          <p:nvPr/>
        </p:nvSpPr>
        <p:spPr>
          <a:xfrm>
            <a:off x="285750" y="1250156"/>
            <a:ext cx="831940" cy="335756"/>
          </a:xfrm>
          <a:prstGeom prst="rect"/>
          <a:solidFill>
            <a:srgbClr val="F8F9FA"/>
          </a:solidFill>
        </p:spPr>
      </p:sp>
      <p:sp>
        <p:nvSpPr>
          <p:cNvPr id="1048643" name="Shape 3"/>
          <p:cNvSpPr/>
          <p:nvPr/>
        </p:nvSpPr>
        <p:spPr>
          <a:xfrm>
            <a:off x="285750" y="1250156"/>
            <a:ext cx="21431" cy="335756"/>
          </a:xfrm>
          <a:prstGeom prst="rect"/>
          <a:solidFill>
            <a:srgbClr val="00B4D8"/>
          </a:solidFill>
        </p:spPr>
      </p:sp>
      <p:pic>
        <p:nvPicPr>
          <p:cNvPr id="2097183" name="Image 2" descr="preencoded.png"/>
          <p:cNvPicPr>
            <a:picLocks noChangeAspect="1"/>
          </p:cNvPicPr>
          <p:nvPr/>
        </p:nvPicPr>
        <p:blipFill>
          <a:blip xmlns:r="http://schemas.openxmlformats.org/officeDocument/2006/relationships" r:embed="rId3"/>
          <a:stretch>
            <a:fillRect/>
          </a:stretch>
        </p:blipFill>
        <p:spPr>
          <a:xfrm>
            <a:off x="392906" y="1353741"/>
            <a:ext cx="112514" cy="128588"/>
          </a:xfrm>
          <a:prstGeom prst="rect"/>
        </p:spPr>
      </p:pic>
      <p:sp>
        <p:nvSpPr>
          <p:cNvPr id="1048644" name="Text 4"/>
          <p:cNvSpPr/>
          <p:nvPr/>
        </p:nvSpPr>
        <p:spPr>
          <a:xfrm>
            <a:off x="562570" y="1360884"/>
            <a:ext cx="330200"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Python</a:t>
            </a:r>
            <a:endParaRPr dirty="0" sz="942" lang="en-US"/>
          </a:p>
        </p:txBody>
      </p:sp>
      <p:sp>
        <p:nvSpPr>
          <p:cNvPr id="1048645" name="Shape 5"/>
          <p:cNvSpPr/>
          <p:nvPr/>
        </p:nvSpPr>
        <p:spPr>
          <a:xfrm>
            <a:off x="1167696" y="1250156"/>
            <a:ext cx="839781" cy="335756"/>
          </a:xfrm>
          <a:prstGeom prst="rect"/>
          <a:solidFill>
            <a:srgbClr val="F8F9FA"/>
          </a:solidFill>
        </p:spPr>
      </p:sp>
      <p:sp>
        <p:nvSpPr>
          <p:cNvPr id="1048646" name="Shape 6"/>
          <p:cNvSpPr/>
          <p:nvPr/>
        </p:nvSpPr>
        <p:spPr>
          <a:xfrm>
            <a:off x="1167696" y="1250156"/>
            <a:ext cx="21431" cy="335756"/>
          </a:xfrm>
          <a:prstGeom prst="rect"/>
          <a:solidFill>
            <a:srgbClr val="00B4D8"/>
          </a:solidFill>
        </p:spPr>
      </p:sp>
      <p:pic>
        <p:nvPicPr>
          <p:cNvPr id="2097184" name="Image 3" descr="preencoded.png"/>
          <p:cNvPicPr>
            <a:picLocks noChangeAspect="1"/>
          </p:cNvPicPr>
          <p:nvPr/>
        </p:nvPicPr>
        <p:blipFill>
          <a:blip xmlns:r="http://schemas.openxmlformats.org/officeDocument/2006/relationships" r:embed="rId4"/>
          <a:stretch>
            <a:fillRect/>
          </a:stretch>
        </p:blipFill>
        <p:spPr>
          <a:xfrm>
            <a:off x="1274852" y="1353741"/>
            <a:ext cx="96441" cy="128588"/>
          </a:xfrm>
          <a:prstGeom prst="rect"/>
        </p:spPr>
      </p:pic>
      <p:sp>
        <p:nvSpPr>
          <p:cNvPr id="1048647" name="Text 7"/>
          <p:cNvSpPr/>
          <p:nvPr/>
        </p:nvSpPr>
        <p:spPr>
          <a:xfrm>
            <a:off x="1428443" y="1360884"/>
            <a:ext cx="349201"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FastAPI</a:t>
            </a:r>
            <a:endParaRPr dirty="0" sz="942" lang="en-US"/>
          </a:p>
        </p:txBody>
      </p:sp>
      <p:sp>
        <p:nvSpPr>
          <p:cNvPr id="1048648" name="Shape 8"/>
          <p:cNvSpPr/>
          <p:nvPr/>
        </p:nvSpPr>
        <p:spPr>
          <a:xfrm>
            <a:off x="2057484" y="1250156"/>
            <a:ext cx="707734" cy="335756"/>
          </a:xfrm>
          <a:prstGeom prst="rect"/>
          <a:solidFill>
            <a:srgbClr val="F8F9FA"/>
          </a:solidFill>
        </p:spPr>
      </p:sp>
      <p:sp>
        <p:nvSpPr>
          <p:cNvPr id="1048649" name="Shape 9"/>
          <p:cNvSpPr/>
          <p:nvPr/>
        </p:nvSpPr>
        <p:spPr>
          <a:xfrm>
            <a:off x="2057484" y="1250156"/>
            <a:ext cx="21431" cy="335756"/>
          </a:xfrm>
          <a:prstGeom prst="rect"/>
          <a:solidFill>
            <a:srgbClr val="00B4D8"/>
          </a:solidFill>
        </p:spPr>
      </p:sp>
      <p:pic>
        <p:nvPicPr>
          <p:cNvPr id="2097185" name="Image 4" descr="preencoded.png"/>
          <p:cNvPicPr>
            <a:picLocks noChangeAspect="1"/>
          </p:cNvPicPr>
          <p:nvPr/>
        </p:nvPicPr>
        <p:blipFill>
          <a:blip xmlns:r="http://schemas.openxmlformats.org/officeDocument/2006/relationships" r:embed="rId5"/>
          <a:stretch>
            <a:fillRect/>
          </a:stretch>
        </p:blipFill>
        <p:spPr>
          <a:xfrm>
            <a:off x="2164640" y="1353741"/>
            <a:ext cx="112514" cy="128588"/>
          </a:xfrm>
          <a:prstGeom prst="rect"/>
        </p:spPr>
      </p:pic>
      <p:sp>
        <p:nvSpPr>
          <p:cNvPr id="1048650" name="Text 10"/>
          <p:cNvSpPr/>
          <p:nvPr/>
        </p:nvSpPr>
        <p:spPr>
          <a:xfrm>
            <a:off x="2334304" y="1360884"/>
            <a:ext cx="254001"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Flask</a:t>
            </a:r>
            <a:endParaRPr dirty="0" sz="942" lang="en-US"/>
          </a:p>
        </p:txBody>
      </p:sp>
      <p:sp>
        <p:nvSpPr>
          <p:cNvPr id="1048651" name="Shape 11"/>
          <p:cNvSpPr/>
          <p:nvPr/>
        </p:nvSpPr>
        <p:spPr>
          <a:xfrm>
            <a:off x="2815224" y="1250156"/>
            <a:ext cx="799681" cy="335756"/>
          </a:xfrm>
          <a:prstGeom prst="rect"/>
          <a:solidFill>
            <a:srgbClr val="F8F9FA"/>
          </a:solidFill>
        </p:spPr>
      </p:sp>
      <p:sp>
        <p:nvSpPr>
          <p:cNvPr id="1048652" name="Shape 12"/>
          <p:cNvSpPr/>
          <p:nvPr/>
        </p:nvSpPr>
        <p:spPr>
          <a:xfrm>
            <a:off x="2815224" y="1250156"/>
            <a:ext cx="21431" cy="335756"/>
          </a:xfrm>
          <a:prstGeom prst="rect"/>
          <a:solidFill>
            <a:srgbClr val="00B4D8"/>
          </a:solidFill>
        </p:spPr>
      </p:sp>
      <p:pic>
        <p:nvPicPr>
          <p:cNvPr id="2097186" name="Image 5" descr="preencoded.png"/>
          <p:cNvPicPr>
            <a:picLocks noChangeAspect="1"/>
          </p:cNvPicPr>
          <p:nvPr/>
        </p:nvPicPr>
        <p:blipFill>
          <a:blip xmlns:r="http://schemas.openxmlformats.org/officeDocument/2006/relationships" r:embed="rId6"/>
          <a:stretch>
            <a:fillRect/>
          </a:stretch>
        </p:blipFill>
        <p:spPr>
          <a:xfrm>
            <a:off x="2922380" y="1353741"/>
            <a:ext cx="128588" cy="128588"/>
          </a:xfrm>
          <a:prstGeom prst="rect"/>
        </p:spPr>
      </p:pic>
      <p:sp>
        <p:nvSpPr>
          <p:cNvPr id="1048653" name="Text 13"/>
          <p:cNvSpPr/>
          <p:nvPr/>
        </p:nvSpPr>
        <p:spPr>
          <a:xfrm>
            <a:off x="3108117" y="1360884"/>
            <a:ext cx="302419"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Celery</a:t>
            </a:r>
            <a:endParaRPr dirty="0" sz="942" lang="en-US"/>
          </a:p>
        </p:txBody>
      </p:sp>
      <p:pic>
        <p:nvPicPr>
          <p:cNvPr id="2097187" name="Image 6" descr="preencoded.png"/>
          <p:cNvPicPr>
            <a:picLocks noChangeAspect="1"/>
          </p:cNvPicPr>
          <p:nvPr/>
        </p:nvPicPr>
        <p:blipFill>
          <a:blip xmlns:r="http://schemas.openxmlformats.org/officeDocument/2006/relationships" r:embed="rId7"/>
          <a:stretch>
            <a:fillRect/>
          </a:stretch>
        </p:blipFill>
        <p:spPr>
          <a:xfrm>
            <a:off x="285750" y="1843088"/>
            <a:ext cx="171450" cy="171450"/>
          </a:xfrm>
          <a:prstGeom prst="rect"/>
        </p:spPr>
      </p:pic>
      <p:sp>
        <p:nvSpPr>
          <p:cNvPr id="1048654" name="Text 14"/>
          <p:cNvSpPr/>
          <p:nvPr/>
        </p:nvSpPr>
        <p:spPr>
          <a:xfrm>
            <a:off x="528638" y="1846262"/>
            <a:ext cx="1219200" cy="165101"/>
          </a:xfrm>
          <a:prstGeom prst="rect"/>
          <a:noFill/>
        </p:spPr>
        <p:txBody>
          <a:bodyPr anchor="ctr" bIns="0" lIns="0" rIns="0" rtlCol="0" tIns="0" wrap="none">
            <a:spAutoFit/>
          </a:bodyPr>
          <a:p>
            <a:pPr indent="0" marL="0">
              <a:buNone/>
            </a:pPr>
            <a:r>
              <a:rPr b="1" dirty="0" sz="1350" lang="en-US">
                <a:solidFill>
                  <a:srgbClr val="0077B6"/>
                </a:solidFill>
                <a:latin typeface="Noto Sans" pitchFamily="34" charset="0"/>
                <a:ea typeface="Noto Sans" pitchFamily="34" charset="-122"/>
                <a:cs typeface="Noto Sans" pitchFamily="34" charset="-120"/>
              </a:rPr>
              <a:t> Machine Learning </a:t>
            </a:r>
            <a:endParaRPr dirty="0" sz="1350" lang="en-US"/>
          </a:p>
        </p:txBody>
      </p:sp>
      <p:sp>
        <p:nvSpPr>
          <p:cNvPr id="1048655" name="Shape 15"/>
          <p:cNvSpPr/>
          <p:nvPr/>
        </p:nvSpPr>
        <p:spPr>
          <a:xfrm>
            <a:off x="285750" y="2164556"/>
            <a:ext cx="1104686" cy="335756"/>
          </a:xfrm>
          <a:prstGeom prst="rect"/>
          <a:solidFill>
            <a:srgbClr val="F8F9FA"/>
          </a:solidFill>
        </p:spPr>
      </p:sp>
      <p:sp>
        <p:nvSpPr>
          <p:cNvPr id="1048656" name="Shape 16"/>
          <p:cNvSpPr/>
          <p:nvPr/>
        </p:nvSpPr>
        <p:spPr>
          <a:xfrm>
            <a:off x="285750" y="2164556"/>
            <a:ext cx="21431" cy="335756"/>
          </a:xfrm>
          <a:prstGeom prst="rect"/>
          <a:solidFill>
            <a:srgbClr val="00B4D8"/>
          </a:solidFill>
        </p:spPr>
      </p:sp>
      <p:pic>
        <p:nvPicPr>
          <p:cNvPr id="2097188" name="Image 7" descr="preencoded.png"/>
          <p:cNvPicPr>
            <a:picLocks noChangeAspect="1"/>
          </p:cNvPicPr>
          <p:nvPr/>
        </p:nvPicPr>
        <p:blipFill>
          <a:blip xmlns:r="http://schemas.openxmlformats.org/officeDocument/2006/relationships" r:embed="rId8"/>
          <a:stretch>
            <a:fillRect/>
          </a:stretch>
        </p:blipFill>
        <p:spPr>
          <a:xfrm>
            <a:off x="392906" y="2268141"/>
            <a:ext cx="128588" cy="128588"/>
          </a:xfrm>
          <a:prstGeom prst="rect"/>
        </p:spPr>
      </p:pic>
      <p:sp>
        <p:nvSpPr>
          <p:cNvPr id="1048657" name="Text 17"/>
          <p:cNvSpPr/>
          <p:nvPr/>
        </p:nvSpPr>
        <p:spPr>
          <a:xfrm>
            <a:off x="578644" y="2275284"/>
            <a:ext cx="500460"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TensorFlow</a:t>
            </a:r>
            <a:endParaRPr dirty="0" sz="942" lang="en-US"/>
          </a:p>
        </p:txBody>
      </p:sp>
      <p:sp>
        <p:nvSpPr>
          <p:cNvPr id="1048658" name="Shape 18"/>
          <p:cNvSpPr/>
          <p:nvPr/>
        </p:nvSpPr>
        <p:spPr>
          <a:xfrm>
            <a:off x="1440442" y="2164556"/>
            <a:ext cx="880802" cy="335756"/>
          </a:xfrm>
          <a:prstGeom prst="rect"/>
          <a:solidFill>
            <a:srgbClr val="F8F9FA"/>
          </a:solidFill>
        </p:spPr>
      </p:sp>
      <p:sp>
        <p:nvSpPr>
          <p:cNvPr id="1048659" name="Shape 19"/>
          <p:cNvSpPr/>
          <p:nvPr/>
        </p:nvSpPr>
        <p:spPr>
          <a:xfrm>
            <a:off x="1440442" y="2164556"/>
            <a:ext cx="21431" cy="335756"/>
          </a:xfrm>
          <a:prstGeom prst="rect"/>
          <a:solidFill>
            <a:srgbClr val="00B4D8"/>
          </a:solidFill>
        </p:spPr>
      </p:sp>
      <p:pic>
        <p:nvPicPr>
          <p:cNvPr id="2097189" name="Image 8" descr="preencoded.png"/>
          <p:cNvPicPr>
            <a:picLocks noChangeAspect="1"/>
          </p:cNvPicPr>
          <p:nvPr/>
        </p:nvPicPr>
        <p:blipFill>
          <a:blip xmlns:r="http://schemas.openxmlformats.org/officeDocument/2006/relationships" r:embed="rId9"/>
          <a:stretch>
            <a:fillRect/>
          </a:stretch>
        </p:blipFill>
        <p:spPr>
          <a:xfrm>
            <a:off x="1547599" y="2268141"/>
            <a:ext cx="112514" cy="128588"/>
          </a:xfrm>
          <a:prstGeom prst="rect"/>
        </p:spPr>
      </p:pic>
      <p:sp>
        <p:nvSpPr>
          <p:cNvPr id="1048660" name="Text 20"/>
          <p:cNvSpPr/>
          <p:nvPr/>
        </p:nvSpPr>
        <p:spPr>
          <a:xfrm>
            <a:off x="1717263" y="2275284"/>
            <a:ext cx="373460"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PyTorch</a:t>
            </a:r>
            <a:endParaRPr dirty="0" sz="942" lang="en-US"/>
          </a:p>
        </p:txBody>
      </p:sp>
      <p:sp>
        <p:nvSpPr>
          <p:cNvPr id="1048661" name="Shape 21"/>
          <p:cNvSpPr/>
          <p:nvPr/>
        </p:nvSpPr>
        <p:spPr>
          <a:xfrm>
            <a:off x="2371251" y="2164556"/>
            <a:ext cx="1119225" cy="335756"/>
          </a:xfrm>
          <a:prstGeom prst="rect"/>
          <a:solidFill>
            <a:srgbClr val="F8F9FA"/>
          </a:solidFill>
        </p:spPr>
      </p:sp>
      <p:sp>
        <p:nvSpPr>
          <p:cNvPr id="1048662" name="Shape 22"/>
          <p:cNvSpPr/>
          <p:nvPr/>
        </p:nvSpPr>
        <p:spPr>
          <a:xfrm>
            <a:off x="2371251" y="2164556"/>
            <a:ext cx="21431" cy="335756"/>
          </a:xfrm>
          <a:prstGeom prst="rect"/>
          <a:solidFill>
            <a:srgbClr val="00B4D8"/>
          </a:solidFill>
        </p:spPr>
      </p:sp>
      <p:pic>
        <p:nvPicPr>
          <p:cNvPr id="2097190" name="Image 9" descr="preencoded.png"/>
          <p:cNvPicPr>
            <a:picLocks noChangeAspect="1"/>
          </p:cNvPicPr>
          <p:nvPr/>
        </p:nvPicPr>
        <p:blipFill>
          <a:blip xmlns:r="http://schemas.openxmlformats.org/officeDocument/2006/relationships" r:embed="rId10"/>
          <a:stretch>
            <a:fillRect/>
          </a:stretch>
        </p:blipFill>
        <p:spPr>
          <a:xfrm>
            <a:off x="2478407" y="2268141"/>
            <a:ext cx="160734" cy="128588"/>
          </a:xfrm>
          <a:prstGeom prst="rect"/>
        </p:spPr>
      </p:pic>
      <p:sp>
        <p:nvSpPr>
          <p:cNvPr id="1048663" name="Text 23"/>
          <p:cNvSpPr/>
          <p:nvPr/>
        </p:nvSpPr>
        <p:spPr>
          <a:xfrm>
            <a:off x="2696291" y="2275284"/>
            <a:ext cx="519808"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Scikit-learn</a:t>
            </a:r>
            <a:endParaRPr dirty="0" sz="942" lang="en-US"/>
          </a:p>
        </p:txBody>
      </p:sp>
      <p:sp>
        <p:nvSpPr>
          <p:cNvPr id="1048664" name="Shape 24"/>
          <p:cNvSpPr/>
          <p:nvPr/>
        </p:nvSpPr>
        <p:spPr>
          <a:xfrm>
            <a:off x="3540482" y="2164556"/>
            <a:ext cx="863696" cy="335756"/>
          </a:xfrm>
          <a:prstGeom prst="rect"/>
          <a:solidFill>
            <a:srgbClr val="F8F9FA"/>
          </a:solidFill>
        </p:spPr>
      </p:sp>
      <p:sp>
        <p:nvSpPr>
          <p:cNvPr id="1048665" name="Shape 25"/>
          <p:cNvSpPr/>
          <p:nvPr/>
        </p:nvSpPr>
        <p:spPr>
          <a:xfrm>
            <a:off x="3540482" y="2164556"/>
            <a:ext cx="21431" cy="335756"/>
          </a:xfrm>
          <a:prstGeom prst="rect"/>
          <a:solidFill>
            <a:srgbClr val="00B4D8"/>
          </a:solidFill>
        </p:spPr>
      </p:sp>
      <p:pic>
        <p:nvPicPr>
          <p:cNvPr id="2097191" name="Image 10" descr="preencoded.png"/>
          <p:cNvPicPr>
            <a:picLocks noChangeAspect="1"/>
          </p:cNvPicPr>
          <p:nvPr/>
        </p:nvPicPr>
        <p:blipFill>
          <a:blip xmlns:r="http://schemas.openxmlformats.org/officeDocument/2006/relationships" r:embed="rId11"/>
          <a:stretch>
            <a:fillRect/>
          </a:stretch>
        </p:blipFill>
        <p:spPr>
          <a:xfrm>
            <a:off x="3647638" y="2268141"/>
            <a:ext cx="128588" cy="128588"/>
          </a:xfrm>
          <a:prstGeom prst="rect"/>
        </p:spPr>
      </p:pic>
      <p:sp>
        <p:nvSpPr>
          <p:cNvPr id="1048666" name="Text 26"/>
          <p:cNvSpPr/>
          <p:nvPr/>
        </p:nvSpPr>
        <p:spPr>
          <a:xfrm>
            <a:off x="3833375" y="2275284"/>
            <a:ext cx="353070"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Pandas</a:t>
            </a:r>
            <a:endParaRPr dirty="0" sz="942" lang="en-US"/>
          </a:p>
        </p:txBody>
      </p:sp>
      <p:pic>
        <p:nvPicPr>
          <p:cNvPr id="2097192" name="Image 11" descr="preencoded.png"/>
          <p:cNvPicPr>
            <a:picLocks noChangeAspect="1"/>
          </p:cNvPicPr>
          <p:nvPr/>
        </p:nvPicPr>
        <p:blipFill>
          <a:blip xmlns:r="http://schemas.openxmlformats.org/officeDocument/2006/relationships" r:embed="rId12"/>
          <a:stretch>
            <a:fillRect/>
          </a:stretch>
        </p:blipFill>
        <p:spPr>
          <a:xfrm>
            <a:off x="285750" y="2757488"/>
            <a:ext cx="192881" cy="171450"/>
          </a:xfrm>
          <a:prstGeom prst="rect"/>
        </p:spPr>
      </p:pic>
      <p:sp>
        <p:nvSpPr>
          <p:cNvPr id="1048667" name="Text 27"/>
          <p:cNvSpPr/>
          <p:nvPr/>
        </p:nvSpPr>
        <p:spPr>
          <a:xfrm>
            <a:off x="550069" y="2760662"/>
            <a:ext cx="640061" cy="165101"/>
          </a:xfrm>
          <a:prstGeom prst="rect"/>
          <a:noFill/>
        </p:spPr>
        <p:txBody>
          <a:bodyPr anchor="ctr" bIns="0" lIns="0" rIns="0" rtlCol="0" tIns="0" wrap="none">
            <a:spAutoFit/>
          </a:bodyPr>
          <a:p>
            <a:pPr indent="0" marL="0">
              <a:buNone/>
            </a:pPr>
            <a:r>
              <a:rPr b="1" dirty="0" sz="1350" lang="en-US">
                <a:solidFill>
                  <a:srgbClr val="0077B6"/>
                </a:solidFill>
                <a:latin typeface="Noto Sans" pitchFamily="34" charset="0"/>
                <a:ea typeface="Noto Sans" pitchFamily="34" charset="-122"/>
                <a:cs typeface="Noto Sans" pitchFamily="34" charset="-120"/>
              </a:rPr>
              <a:t> Frontend </a:t>
            </a:r>
            <a:endParaRPr dirty="0" sz="1350" lang="en-US"/>
          </a:p>
        </p:txBody>
      </p:sp>
      <p:sp>
        <p:nvSpPr>
          <p:cNvPr id="1048668" name="Shape 28"/>
          <p:cNvSpPr/>
          <p:nvPr/>
        </p:nvSpPr>
        <p:spPr>
          <a:xfrm>
            <a:off x="285750" y="3078956"/>
            <a:ext cx="883509" cy="335756"/>
          </a:xfrm>
          <a:prstGeom prst="rect"/>
          <a:solidFill>
            <a:srgbClr val="F8F9FA"/>
          </a:solidFill>
        </p:spPr>
      </p:sp>
      <p:sp>
        <p:nvSpPr>
          <p:cNvPr id="1048669" name="Shape 29"/>
          <p:cNvSpPr/>
          <p:nvPr/>
        </p:nvSpPr>
        <p:spPr>
          <a:xfrm>
            <a:off x="285750" y="3078956"/>
            <a:ext cx="21431" cy="335756"/>
          </a:xfrm>
          <a:prstGeom prst="rect"/>
          <a:solidFill>
            <a:srgbClr val="00B4D8"/>
          </a:solidFill>
        </p:spPr>
      </p:sp>
      <p:pic>
        <p:nvPicPr>
          <p:cNvPr id="2097193" name="Image 12" descr="preencoded.png"/>
          <p:cNvPicPr>
            <a:picLocks noChangeAspect="1"/>
          </p:cNvPicPr>
          <p:nvPr/>
        </p:nvPicPr>
        <p:blipFill>
          <a:blip xmlns:r="http://schemas.openxmlformats.org/officeDocument/2006/relationships" r:embed="rId13"/>
          <a:stretch>
            <a:fillRect/>
          </a:stretch>
        </p:blipFill>
        <p:spPr>
          <a:xfrm>
            <a:off x="392906" y="3182541"/>
            <a:ext cx="128588" cy="128588"/>
          </a:xfrm>
          <a:prstGeom prst="rect"/>
        </p:spPr>
      </p:pic>
      <p:sp>
        <p:nvSpPr>
          <p:cNvPr id="1048670" name="Text 30"/>
          <p:cNvSpPr/>
          <p:nvPr/>
        </p:nvSpPr>
        <p:spPr>
          <a:xfrm>
            <a:off x="578644" y="3189684"/>
            <a:ext cx="366564"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React.js</a:t>
            </a:r>
            <a:endParaRPr dirty="0" sz="942" lang="en-US"/>
          </a:p>
        </p:txBody>
      </p:sp>
      <p:sp>
        <p:nvSpPr>
          <p:cNvPr id="1048671" name="Shape 31"/>
          <p:cNvSpPr/>
          <p:nvPr/>
        </p:nvSpPr>
        <p:spPr>
          <a:xfrm>
            <a:off x="1219265" y="3078956"/>
            <a:ext cx="1175007" cy="335756"/>
          </a:xfrm>
          <a:prstGeom prst="rect"/>
          <a:solidFill>
            <a:srgbClr val="F8F9FA"/>
          </a:solidFill>
        </p:spPr>
      </p:sp>
      <p:sp>
        <p:nvSpPr>
          <p:cNvPr id="1048672" name="Shape 32"/>
          <p:cNvSpPr/>
          <p:nvPr/>
        </p:nvSpPr>
        <p:spPr>
          <a:xfrm>
            <a:off x="1219265" y="3078956"/>
            <a:ext cx="21431" cy="335756"/>
          </a:xfrm>
          <a:prstGeom prst="rect"/>
          <a:solidFill>
            <a:srgbClr val="00B4D8"/>
          </a:solidFill>
        </p:spPr>
      </p:sp>
      <p:pic>
        <p:nvPicPr>
          <p:cNvPr id="2097194" name="Image 13" descr="preencoded.png"/>
          <p:cNvPicPr>
            <a:picLocks noChangeAspect="1"/>
          </p:cNvPicPr>
          <p:nvPr/>
        </p:nvPicPr>
        <p:blipFill>
          <a:blip xmlns:r="http://schemas.openxmlformats.org/officeDocument/2006/relationships" r:embed="rId14"/>
          <a:stretch>
            <a:fillRect/>
          </a:stretch>
        </p:blipFill>
        <p:spPr>
          <a:xfrm>
            <a:off x="1326421" y="3182541"/>
            <a:ext cx="128588" cy="128588"/>
          </a:xfrm>
          <a:prstGeom prst="rect"/>
        </p:spPr>
      </p:pic>
      <p:sp>
        <p:nvSpPr>
          <p:cNvPr id="1048673" name="Text 33"/>
          <p:cNvSpPr/>
          <p:nvPr/>
        </p:nvSpPr>
        <p:spPr>
          <a:xfrm>
            <a:off x="1512159" y="3189684"/>
            <a:ext cx="580430"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React Native</a:t>
            </a:r>
            <a:endParaRPr dirty="0" sz="942" lang="en-US"/>
          </a:p>
        </p:txBody>
      </p:sp>
      <p:sp>
        <p:nvSpPr>
          <p:cNvPr id="1048674" name="Shape 34"/>
          <p:cNvSpPr/>
          <p:nvPr/>
        </p:nvSpPr>
        <p:spPr>
          <a:xfrm>
            <a:off x="2444279" y="3078956"/>
            <a:ext cx="1169873" cy="335756"/>
          </a:xfrm>
          <a:prstGeom prst="rect"/>
          <a:solidFill>
            <a:srgbClr val="F8F9FA"/>
          </a:solidFill>
        </p:spPr>
      </p:sp>
      <p:sp>
        <p:nvSpPr>
          <p:cNvPr id="1048675" name="Shape 35"/>
          <p:cNvSpPr/>
          <p:nvPr/>
        </p:nvSpPr>
        <p:spPr>
          <a:xfrm>
            <a:off x="2444279" y="3078956"/>
            <a:ext cx="21431" cy="335756"/>
          </a:xfrm>
          <a:prstGeom prst="rect"/>
          <a:solidFill>
            <a:srgbClr val="00B4D8"/>
          </a:solidFill>
        </p:spPr>
      </p:sp>
      <p:pic>
        <p:nvPicPr>
          <p:cNvPr id="2097195" name="Image 14" descr="preencoded.png"/>
          <p:cNvPicPr>
            <a:picLocks noChangeAspect="1"/>
          </p:cNvPicPr>
          <p:nvPr/>
        </p:nvPicPr>
        <p:blipFill>
          <a:blip xmlns:r="http://schemas.openxmlformats.org/officeDocument/2006/relationships" r:embed="rId15"/>
          <a:stretch>
            <a:fillRect/>
          </a:stretch>
        </p:blipFill>
        <p:spPr>
          <a:xfrm>
            <a:off x="2551435" y="3182541"/>
            <a:ext cx="128588" cy="128588"/>
          </a:xfrm>
          <a:prstGeom prst="rect"/>
        </p:spPr>
      </p:pic>
      <p:sp>
        <p:nvSpPr>
          <p:cNvPr id="1048676" name="Text 36"/>
          <p:cNvSpPr/>
          <p:nvPr/>
        </p:nvSpPr>
        <p:spPr>
          <a:xfrm>
            <a:off x="2737172" y="3189684"/>
            <a:ext cx="576313"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Tailwind CSS</a:t>
            </a:r>
            <a:endParaRPr dirty="0" sz="942" lang="en-US"/>
          </a:p>
        </p:txBody>
      </p:sp>
      <p:pic>
        <p:nvPicPr>
          <p:cNvPr id="2097196" name="Image 15" descr="preencoded.png"/>
          <p:cNvPicPr>
            <a:picLocks noChangeAspect="1"/>
          </p:cNvPicPr>
          <p:nvPr/>
        </p:nvPicPr>
        <p:blipFill>
          <a:blip xmlns:r="http://schemas.openxmlformats.org/officeDocument/2006/relationships" r:embed="rId16"/>
          <a:stretch>
            <a:fillRect/>
          </a:stretch>
        </p:blipFill>
        <p:spPr>
          <a:xfrm>
            <a:off x="285750" y="3671888"/>
            <a:ext cx="150019" cy="171450"/>
          </a:xfrm>
          <a:prstGeom prst="rect"/>
        </p:spPr>
      </p:pic>
      <p:sp>
        <p:nvSpPr>
          <p:cNvPr id="1048677" name="Text 37"/>
          <p:cNvSpPr/>
          <p:nvPr/>
        </p:nvSpPr>
        <p:spPr>
          <a:xfrm>
            <a:off x="507206" y="3675062"/>
            <a:ext cx="933351" cy="165101"/>
          </a:xfrm>
          <a:prstGeom prst="rect"/>
          <a:noFill/>
        </p:spPr>
        <p:txBody>
          <a:bodyPr anchor="ctr" bIns="0" lIns="0" rIns="0" rtlCol="0" tIns="0" wrap="none">
            <a:spAutoFit/>
          </a:bodyPr>
          <a:p>
            <a:pPr indent="0" marL="0">
              <a:buNone/>
            </a:pPr>
            <a:r>
              <a:rPr b="1" dirty="0" sz="1350" lang="en-US">
                <a:solidFill>
                  <a:srgbClr val="0077B6"/>
                </a:solidFill>
                <a:latin typeface="Noto Sans" pitchFamily="34" charset="0"/>
                <a:ea typeface="Noto Sans" pitchFamily="34" charset="-122"/>
                <a:cs typeface="Noto Sans" pitchFamily="34" charset="-120"/>
              </a:rPr>
              <a:t> Data Storage </a:t>
            </a:r>
            <a:endParaRPr dirty="0" sz="1350" lang="en-US"/>
          </a:p>
        </p:txBody>
      </p:sp>
      <p:sp>
        <p:nvSpPr>
          <p:cNvPr id="1048678" name="Shape 38"/>
          <p:cNvSpPr/>
          <p:nvPr/>
        </p:nvSpPr>
        <p:spPr>
          <a:xfrm>
            <a:off x="285750" y="3993356"/>
            <a:ext cx="1109569" cy="335756"/>
          </a:xfrm>
          <a:prstGeom prst="rect"/>
          <a:solidFill>
            <a:srgbClr val="F8F9FA"/>
          </a:solidFill>
        </p:spPr>
      </p:sp>
      <p:sp>
        <p:nvSpPr>
          <p:cNvPr id="1048679" name="Shape 39"/>
          <p:cNvSpPr/>
          <p:nvPr/>
        </p:nvSpPr>
        <p:spPr>
          <a:xfrm>
            <a:off x="285750" y="3993356"/>
            <a:ext cx="21431" cy="335756"/>
          </a:xfrm>
          <a:prstGeom prst="rect"/>
          <a:solidFill>
            <a:srgbClr val="00B4D8"/>
          </a:solidFill>
        </p:spPr>
      </p:sp>
      <p:pic>
        <p:nvPicPr>
          <p:cNvPr id="2097197" name="Image 16" descr="preencoded.png"/>
          <p:cNvPicPr>
            <a:picLocks noChangeAspect="1"/>
          </p:cNvPicPr>
          <p:nvPr/>
        </p:nvPicPr>
        <p:blipFill>
          <a:blip xmlns:r="http://schemas.openxmlformats.org/officeDocument/2006/relationships" r:embed="rId17"/>
          <a:stretch>
            <a:fillRect/>
          </a:stretch>
        </p:blipFill>
        <p:spPr>
          <a:xfrm>
            <a:off x="392906" y="4096941"/>
            <a:ext cx="112514" cy="128588"/>
          </a:xfrm>
          <a:prstGeom prst="rect"/>
        </p:spPr>
      </p:pic>
      <p:sp>
        <p:nvSpPr>
          <p:cNvPr id="1048680" name="Text 40"/>
          <p:cNvSpPr/>
          <p:nvPr/>
        </p:nvSpPr>
        <p:spPr>
          <a:xfrm>
            <a:off x="562570" y="4104084"/>
            <a:ext cx="518617"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PostgreSQL</a:t>
            </a:r>
            <a:endParaRPr dirty="0" sz="942" lang="en-US"/>
          </a:p>
        </p:txBody>
      </p:sp>
      <p:sp>
        <p:nvSpPr>
          <p:cNvPr id="1048681" name="Shape 41"/>
          <p:cNvSpPr/>
          <p:nvPr/>
        </p:nvSpPr>
        <p:spPr>
          <a:xfrm>
            <a:off x="1445326" y="3993356"/>
            <a:ext cx="1029705" cy="335756"/>
          </a:xfrm>
          <a:prstGeom prst="rect"/>
          <a:solidFill>
            <a:srgbClr val="F8F9FA"/>
          </a:solidFill>
        </p:spPr>
      </p:sp>
      <p:sp>
        <p:nvSpPr>
          <p:cNvPr id="1048682" name="Shape 42"/>
          <p:cNvSpPr/>
          <p:nvPr/>
        </p:nvSpPr>
        <p:spPr>
          <a:xfrm>
            <a:off x="1445326" y="3993356"/>
            <a:ext cx="21431" cy="335756"/>
          </a:xfrm>
          <a:prstGeom prst="rect"/>
          <a:solidFill>
            <a:srgbClr val="00B4D8"/>
          </a:solidFill>
        </p:spPr>
      </p:sp>
      <p:pic>
        <p:nvPicPr>
          <p:cNvPr id="2097198" name="Image 17" descr="preencoded.png"/>
          <p:cNvPicPr>
            <a:picLocks noChangeAspect="1"/>
          </p:cNvPicPr>
          <p:nvPr/>
        </p:nvPicPr>
        <p:blipFill>
          <a:blip xmlns:r="http://schemas.openxmlformats.org/officeDocument/2006/relationships" r:embed="rId18"/>
          <a:stretch>
            <a:fillRect/>
          </a:stretch>
        </p:blipFill>
        <p:spPr>
          <a:xfrm>
            <a:off x="1552482" y="4096941"/>
            <a:ext cx="128588" cy="128588"/>
          </a:xfrm>
          <a:prstGeom prst="rect"/>
        </p:spPr>
      </p:pic>
      <p:sp>
        <p:nvSpPr>
          <p:cNvPr id="1048683" name="Text 43"/>
          <p:cNvSpPr/>
          <p:nvPr/>
        </p:nvSpPr>
        <p:spPr>
          <a:xfrm>
            <a:off x="1738219" y="4104084"/>
            <a:ext cx="406401"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MongoDB</a:t>
            </a:r>
            <a:endParaRPr dirty="0" sz="942" lang="en-US"/>
          </a:p>
        </p:txBody>
      </p:sp>
      <p:sp>
        <p:nvSpPr>
          <p:cNvPr id="1048684" name="Shape 44"/>
          <p:cNvSpPr/>
          <p:nvPr/>
        </p:nvSpPr>
        <p:spPr>
          <a:xfrm>
            <a:off x="2525037" y="3993356"/>
            <a:ext cx="715714" cy="335756"/>
          </a:xfrm>
          <a:prstGeom prst="rect"/>
          <a:solidFill>
            <a:srgbClr val="F8F9FA"/>
          </a:solidFill>
        </p:spPr>
      </p:sp>
      <p:sp>
        <p:nvSpPr>
          <p:cNvPr id="1048685" name="Shape 45"/>
          <p:cNvSpPr/>
          <p:nvPr/>
        </p:nvSpPr>
        <p:spPr>
          <a:xfrm>
            <a:off x="2525037" y="3993356"/>
            <a:ext cx="21431" cy="335756"/>
          </a:xfrm>
          <a:prstGeom prst="rect"/>
          <a:solidFill>
            <a:srgbClr val="00B4D8"/>
          </a:solidFill>
        </p:spPr>
      </p:sp>
      <p:pic>
        <p:nvPicPr>
          <p:cNvPr id="2097199" name="Image 18" descr="preencoded.png"/>
          <p:cNvPicPr>
            <a:picLocks noChangeAspect="1"/>
          </p:cNvPicPr>
          <p:nvPr/>
        </p:nvPicPr>
        <p:blipFill>
          <a:blip xmlns:r="http://schemas.openxmlformats.org/officeDocument/2006/relationships" r:embed="rId4"/>
          <a:stretch>
            <a:fillRect/>
          </a:stretch>
        </p:blipFill>
        <p:spPr>
          <a:xfrm>
            <a:off x="2632193" y="4096941"/>
            <a:ext cx="96441" cy="128588"/>
          </a:xfrm>
          <a:prstGeom prst="rect"/>
        </p:spPr>
      </p:pic>
      <p:sp>
        <p:nvSpPr>
          <p:cNvPr id="1048686" name="Text 46"/>
          <p:cNvSpPr/>
          <p:nvPr/>
        </p:nvSpPr>
        <p:spPr>
          <a:xfrm>
            <a:off x="2785783" y="4104084"/>
            <a:ext cx="252264"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Redis</a:t>
            </a:r>
            <a:endParaRPr dirty="0" sz="942" lang="en-US"/>
          </a:p>
        </p:txBody>
      </p:sp>
      <p:pic>
        <p:nvPicPr>
          <p:cNvPr id="2097200" name="Image 19" descr="preencoded.png"/>
          <p:cNvPicPr>
            <a:picLocks noChangeAspect="1"/>
          </p:cNvPicPr>
          <p:nvPr/>
        </p:nvPicPr>
        <p:blipFill>
          <a:blip xmlns:r="http://schemas.openxmlformats.org/officeDocument/2006/relationships" r:embed="rId19"/>
          <a:stretch>
            <a:fillRect/>
          </a:stretch>
        </p:blipFill>
        <p:spPr>
          <a:xfrm>
            <a:off x="285750" y="4586288"/>
            <a:ext cx="214313" cy="171450"/>
          </a:xfrm>
          <a:prstGeom prst="rect"/>
        </p:spPr>
      </p:pic>
      <p:sp>
        <p:nvSpPr>
          <p:cNvPr id="1048687" name="Text 47"/>
          <p:cNvSpPr/>
          <p:nvPr/>
        </p:nvSpPr>
        <p:spPr>
          <a:xfrm>
            <a:off x="571500" y="4589462"/>
            <a:ext cx="1009899" cy="165101"/>
          </a:xfrm>
          <a:prstGeom prst="rect"/>
          <a:noFill/>
        </p:spPr>
        <p:txBody>
          <a:bodyPr anchor="ctr" bIns="0" lIns="0" rIns="0" rtlCol="0" tIns="0" wrap="none">
            <a:spAutoFit/>
          </a:bodyPr>
          <a:p>
            <a:pPr indent="0" marL="0">
              <a:buNone/>
            </a:pPr>
            <a:r>
              <a:rPr b="1" dirty="0" sz="1350" lang="en-US">
                <a:solidFill>
                  <a:srgbClr val="0077B6"/>
                </a:solidFill>
                <a:latin typeface="Noto Sans" pitchFamily="34" charset="0"/>
                <a:ea typeface="Noto Sans" pitchFamily="34" charset="-122"/>
                <a:cs typeface="Noto Sans" pitchFamily="34" charset="-120"/>
              </a:rPr>
              <a:t> Infrastructure </a:t>
            </a:r>
            <a:endParaRPr dirty="0" sz="1350" lang="en-US"/>
          </a:p>
        </p:txBody>
      </p:sp>
      <p:sp>
        <p:nvSpPr>
          <p:cNvPr id="1048688" name="Shape 48"/>
          <p:cNvSpPr/>
          <p:nvPr/>
        </p:nvSpPr>
        <p:spPr>
          <a:xfrm>
            <a:off x="285750" y="4907756"/>
            <a:ext cx="1234334" cy="335756"/>
          </a:xfrm>
          <a:prstGeom prst="rect"/>
          <a:solidFill>
            <a:srgbClr val="F8F9FA"/>
          </a:solidFill>
        </p:spPr>
      </p:sp>
      <p:sp>
        <p:nvSpPr>
          <p:cNvPr id="1048689" name="Shape 49"/>
          <p:cNvSpPr/>
          <p:nvPr/>
        </p:nvSpPr>
        <p:spPr>
          <a:xfrm>
            <a:off x="285750" y="4907756"/>
            <a:ext cx="21431" cy="335756"/>
          </a:xfrm>
          <a:prstGeom prst="rect"/>
          <a:solidFill>
            <a:srgbClr val="00B4D8"/>
          </a:solidFill>
        </p:spPr>
      </p:sp>
      <p:pic>
        <p:nvPicPr>
          <p:cNvPr id="2097201" name="Image 20" descr="preencoded.png"/>
          <p:cNvPicPr>
            <a:picLocks noChangeAspect="1"/>
          </p:cNvPicPr>
          <p:nvPr/>
        </p:nvPicPr>
        <p:blipFill>
          <a:blip xmlns:r="http://schemas.openxmlformats.org/officeDocument/2006/relationships" r:embed="rId20"/>
          <a:stretch>
            <a:fillRect/>
          </a:stretch>
        </p:blipFill>
        <p:spPr>
          <a:xfrm>
            <a:off x="392906" y="5011341"/>
            <a:ext cx="123230" cy="128588"/>
          </a:xfrm>
          <a:prstGeom prst="rect"/>
        </p:spPr>
      </p:pic>
      <p:sp>
        <p:nvSpPr>
          <p:cNvPr id="1048690" name="Text 50"/>
          <p:cNvSpPr/>
          <p:nvPr/>
        </p:nvSpPr>
        <p:spPr>
          <a:xfrm>
            <a:off x="573286" y="5018484"/>
            <a:ext cx="609600"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Google Cloud</a:t>
            </a:r>
            <a:endParaRPr dirty="0" sz="942" lang="en-US"/>
          </a:p>
        </p:txBody>
      </p:sp>
      <p:sp>
        <p:nvSpPr>
          <p:cNvPr id="1048691" name="Shape 51"/>
          <p:cNvSpPr/>
          <p:nvPr/>
        </p:nvSpPr>
        <p:spPr>
          <a:xfrm>
            <a:off x="1570090" y="4907756"/>
            <a:ext cx="881332" cy="335756"/>
          </a:xfrm>
          <a:prstGeom prst="rect"/>
          <a:solidFill>
            <a:srgbClr val="F8F9FA"/>
          </a:solidFill>
        </p:spPr>
      </p:sp>
      <p:sp>
        <p:nvSpPr>
          <p:cNvPr id="1048692" name="Shape 52"/>
          <p:cNvSpPr/>
          <p:nvPr/>
        </p:nvSpPr>
        <p:spPr>
          <a:xfrm>
            <a:off x="1570090" y="4907756"/>
            <a:ext cx="21431" cy="335756"/>
          </a:xfrm>
          <a:prstGeom prst="rect"/>
          <a:solidFill>
            <a:srgbClr val="00B4D8"/>
          </a:solidFill>
        </p:spPr>
      </p:sp>
      <p:pic>
        <p:nvPicPr>
          <p:cNvPr id="2097202" name="Image 21" descr="preencoded.png"/>
          <p:cNvPicPr>
            <a:picLocks noChangeAspect="1"/>
          </p:cNvPicPr>
          <p:nvPr/>
        </p:nvPicPr>
        <p:blipFill>
          <a:blip xmlns:r="http://schemas.openxmlformats.org/officeDocument/2006/relationships" r:embed="rId21"/>
          <a:stretch>
            <a:fillRect/>
          </a:stretch>
        </p:blipFill>
        <p:spPr>
          <a:xfrm>
            <a:off x="1677246" y="5011341"/>
            <a:ext cx="160734" cy="128588"/>
          </a:xfrm>
          <a:prstGeom prst="rect"/>
        </p:spPr>
      </p:pic>
      <p:sp>
        <p:nvSpPr>
          <p:cNvPr id="1048693" name="Text 53"/>
          <p:cNvSpPr/>
          <p:nvPr/>
        </p:nvSpPr>
        <p:spPr>
          <a:xfrm>
            <a:off x="1895131" y="5018484"/>
            <a:ext cx="314871"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Docker</a:t>
            </a:r>
            <a:endParaRPr dirty="0" sz="942" lang="en-US"/>
          </a:p>
        </p:txBody>
      </p:sp>
      <p:sp>
        <p:nvSpPr>
          <p:cNvPr id="1048694" name="Shape 54"/>
          <p:cNvSpPr/>
          <p:nvPr/>
        </p:nvSpPr>
        <p:spPr>
          <a:xfrm>
            <a:off x="2501429" y="4907756"/>
            <a:ext cx="1117802" cy="335756"/>
          </a:xfrm>
          <a:prstGeom prst="rect"/>
          <a:solidFill>
            <a:srgbClr val="F8F9FA"/>
          </a:solidFill>
        </p:spPr>
      </p:sp>
      <p:sp>
        <p:nvSpPr>
          <p:cNvPr id="1048695" name="Shape 55"/>
          <p:cNvSpPr/>
          <p:nvPr/>
        </p:nvSpPr>
        <p:spPr>
          <a:xfrm>
            <a:off x="2501429" y="4907756"/>
            <a:ext cx="21431" cy="335756"/>
          </a:xfrm>
          <a:prstGeom prst="rect"/>
          <a:solidFill>
            <a:srgbClr val="00B4D8"/>
          </a:solidFill>
        </p:spPr>
      </p:sp>
      <p:pic>
        <p:nvPicPr>
          <p:cNvPr id="2097203" name="Image 22" descr="preencoded.png"/>
          <p:cNvPicPr>
            <a:picLocks noChangeAspect="1"/>
          </p:cNvPicPr>
          <p:nvPr/>
        </p:nvPicPr>
        <p:blipFill>
          <a:blip xmlns:r="http://schemas.openxmlformats.org/officeDocument/2006/relationships" r:embed="rId22"/>
          <a:stretch>
            <a:fillRect/>
          </a:stretch>
        </p:blipFill>
        <p:spPr>
          <a:xfrm>
            <a:off x="2608585" y="5011341"/>
            <a:ext cx="128588" cy="128588"/>
          </a:xfrm>
          <a:prstGeom prst="rect"/>
        </p:spPr>
      </p:pic>
      <p:sp>
        <p:nvSpPr>
          <p:cNvPr id="1048696" name="Text 56"/>
          <p:cNvSpPr/>
          <p:nvPr/>
        </p:nvSpPr>
        <p:spPr>
          <a:xfrm>
            <a:off x="2794322" y="5018484"/>
            <a:ext cx="516930"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Kubernetes</a:t>
            </a:r>
            <a:endParaRPr dirty="0" sz="942" lang="en-US"/>
          </a:p>
        </p:txBody>
      </p:sp>
      <p:pic>
        <p:nvPicPr>
          <p:cNvPr id="2097204" name="Image 23" descr="preencoded.png"/>
          <p:cNvPicPr>
            <a:picLocks noChangeAspect="1"/>
          </p:cNvPicPr>
          <p:nvPr/>
        </p:nvPicPr>
        <p:blipFill>
          <a:blip xmlns:r="http://schemas.openxmlformats.org/officeDocument/2006/relationships" r:embed="rId23"/>
          <a:stretch>
            <a:fillRect/>
          </a:stretch>
        </p:blipFill>
        <p:spPr>
          <a:xfrm>
            <a:off x="4786313" y="1207294"/>
            <a:ext cx="3929063" cy="3929063"/>
          </a:xfrm>
          <a:prstGeom prst="rec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30" name=""/>
        <p:cNvGrpSpPr/>
        <p:nvPr/>
      </p:nvGrpSpPr>
      <p:grpSpPr>
        <a:xfrm>
          <a:off x="0" y="0"/>
          <a:ext cx="0" cy="0"/>
          <a:chOff x="0" y="0"/>
          <a:chExt cx="0" cy="0"/>
        </a:xfrm>
      </p:grpSpPr>
      <p:pic>
        <p:nvPicPr>
          <p:cNvPr id="2097205" name="Image 0" descr="preencoded.png"/>
          <p:cNvPicPr>
            <a:picLocks noChangeAspect="1"/>
          </p:cNvPicPr>
          <p:nvPr/>
        </p:nvPicPr>
        <p:blipFill>
          <a:blip xmlns:r="http://schemas.openxmlformats.org/officeDocument/2006/relationships" r:embed="rId1"/>
          <a:stretch>
            <a:fillRect/>
          </a:stretch>
        </p:blipFill>
        <p:spPr>
          <a:xfrm>
            <a:off x="0" y="0"/>
            <a:ext cx="9144000" cy="6050756"/>
          </a:xfrm>
          <a:prstGeom prst="rect"/>
        </p:spPr>
      </p:pic>
      <p:sp>
        <p:nvSpPr>
          <p:cNvPr id="1048700" name="Text 0"/>
          <p:cNvSpPr/>
          <p:nvPr/>
        </p:nvSpPr>
        <p:spPr>
          <a:xfrm>
            <a:off x="285750" y="357981"/>
            <a:ext cx="1759942" cy="241301"/>
          </a:xfrm>
          <a:prstGeom prst="rect"/>
          <a:noFill/>
        </p:spPr>
        <p:txBody>
          <a:bodyPr anchor="ctr" bIns="0" lIns="0" rIns="0" rtlCol="0" tIns="0" wrap="none">
            <a:spAutoFit/>
          </a:bodyPr>
          <a:p>
            <a:pPr algn="ctr" indent="0" marL="0">
              <a:buNone/>
            </a:pPr>
            <a:r>
              <a:rPr b="1" dirty="0" sz="2025" lang="en-US">
                <a:solidFill>
                  <a:srgbClr val="0077B6"/>
                </a:solidFill>
                <a:latin typeface="Noto Sans" pitchFamily="34" charset="0"/>
                <a:ea typeface="Noto Sans" pitchFamily="34" charset="-122"/>
                <a:cs typeface="Noto Sans" pitchFamily="34" charset="-120"/>
              </a:rPr>
              <a:t>AI/ML Components</a:t>
            </a:r>
            <a:endParaRPr dirty="0" sz="2025" lang="en-US"/>
          </a:p>
        </p:txBody>
      </p:sp>
      <p:pic>
        <p:nvPicPr>
          <p:cNvPr id="2097206" name="Image 1" descr="preencoded.png"/>
          <p:cNvPicPr>
            <a:picLocks noChangeAspect="1"/>
          </p:cNvPicPr>
          <p:nvPr/>
        </p:nvPicPr>
        <p:blipFill>
          <a:blip xmlns:r="http://schemas.openxmlformats.org/officeDocument/2006/relationships" r:embed="rId2"/>
          <a:stretch>
            <a:fillRect/>
          </a:stretch>
        </p:blipFill>
        <p:spPr>
          <a:xfrm>
            <a:off x="285750" y="928688"/>
            <a:ext cx="171450" cy="171450"/>
          </a:xfrm>
          <a:prstGeom prst="rect"/>
        </p:spPr>
      </p:pic>
      <p:sp>
        <p:nvSpPr>
          <p:cNvPr id="1048701" name="Text 1"/>
          <p:cNvSpPr/>
          <p:nvPr/>
        </p:nvSpPr>
        <p:spPr>
          <a:xfrm>
            <a:off x="528638" y="931862"/>
            <a:ext cx="1700808" cy="165101"/>
          </a:xfrm>
          <a:prstGeom prst="rect"/>
          <a:noFill/>
        </p:spPr>
        <p:txBody>
          <a:bodyPr anchor="ctr" bIns="0" lIns="0" rIns="0" rtlCol="0" tIns="0" wrap="none">
            <a:spAutoFit/>
          </a:bodyPr>
          <a:p>
            <a:pPr indent="0" marL="0">
              <a:buNone/>
            </a:pPr>
            <a:r>
              <a:rPr b="1" dirty="0" sz="1350" lang="en-US">
                <a:solidFill>
                  <a:srgbClr val="0077B6"/>
                </a:solidFill>
                <a:latin typeface="Noto Sans" pitchFamily="34" charset="0"/>
                <a:ea typeface="Noto Sans" pitchFamily="34" charset="-122"/>
                <a:cs typeface="Noto Sans" pitchFamily="34" charset="-120"/>
              </a:rPr>
              <a:t> Demand Prediction Model </a:t>
            </a:r>
            <a:endParaRPr dirty="0" sz="1350" lang="en-US"/>
          </a:p>
        </p:txBody>
      </p:sp>
      <p:sp>
        <p:nvSpPr>
          <p:cNvPr id="1048702" name="Text 2"/>
          <p:cNvSpPr/>
          <p:nvPr/>
        </p:nvSpPr>
        <p:spPr>
          <a:xfrm>
            <a:off x="285750" y="1425178"/>
            <a:ext cx="4179094" cy="228600"/>
          </a:xfrm>
          <a:prstGeom prst="rect"/>
          <a:noFill/>
        </p:spPr>
        <p:txBody>
          <a:bodyPr anchor="ctr" bIns="0" lIns="0" rIns="0" rtlCol="0" tIns="0" wrap="square">
            <a:spAutoFit/>
          </a:bodyPr>
          <a:p>
            <a:pPr indent="0" marL="0">
              <a:buNone/>
            </a:pPr>
            <a:r>
              <a:rPr dirty="0" sz="942" lang="en-US">
                <a:solidFill>
                  <a:srgbClr val="333333"/>
                </a:solidFill>
                <a:latin typeface="Noto Sans" pitchFamily="34" charset="0"/>
                <a:ea typeface="Noto Sans" pitchFamily="34" charset="-122"/>
                <a:cs typeface="Noto Sans" pitchFamily="34" charset="-120"/>
              </a:rPr>
              <a:t> Time-series forecasting model that predicts blood demand at hospital and blood bank levels for short-term and medium-term planning. </a:t>
            </a:r>
            <a:endParaRPr dirty="0" sz="942" lang="en-US"/>
          </a:p>
        </p:txBody>
      </p:sp>
      <p:sp>
        <p:nvSpPr>
          <p:cNvPr id="1048703" name="Shape 3"/>
          <p:cNvSpPr/>
          <p:nvPr/>
        </p:nvSpPr>
        <p:spPr>
          <a:xfrm>
            <a:off x="285750" y="1935956"/>
            <a:ext cx="4179094" cy="1271588"/>
          </a:xfrm>
          <a:prstGeom prst="rect"/>
          <a:solidFill>
            <a:srgbClr val="F8F9FA"/>
          </a:solidFill>
        </p:spPr>
      </p:sp>
      <p:pic>
        <p:nvPicPr>
          <p:cNvPr id="2097207" name="Image 2" descr="preencoded.png"/>
          <p:cNvPicPr>
            <a:picLocks noChangeAspect="1"/>
          </p:cNvPicPr>
          <p:nvPr/>
        </p:nvPicPr>
        <p:blipFill>
          <a:blip xmlns:r="http://schemas.openxmlformats.org/officeDocument/2006/relationships" r:embed="rId3"/>
          <a:stretch>
            <a:fillRect/>
          </a:stretch>
        </p:blipFill>
        <p:spPr>
          <a:xfrm>
            <a:off x="392906" y="2075259"/>
            <a:ext cx="112514" cy="128588"/>
          </a:xfrm>
          <a:prstGeom prst="rect"/>
        </p:spPr>
      </p:pic>
      <p:sp>
        <p:nvSpPr>
          <p:cNvPr id="1048704" name="Text 4"/>
          <p:cNvSpPr/>
          <p:nvPr/>
        </p:nvSpPr>
        <p:spPr>
          <a:xfrm>
            <a:off x="576858" y="2082403"/>
            <a:ext cx="1214636"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Seasonal patterns analysis </a:t>
            </a:r>
            <a:endParaRPr dirty="0" sz="942" lang="en-US"/>
          </a:p>
        </p:txBody>
      </p:sp>
      <p:pic>
        <p:nvPicPr>
          <p:cNvPr id="2097208" name="Image 3" descr="preencoded.png"/>
          <p:cNvPicPr>
            <a:picLocks noChangeAspect="1"/>
          </p:cNvPicPr>
          <p:nvPr/>
        </p:nvPicPr>
        <p:blipFill>
          <a:blip xmlns:r="http://schemas.openxmlformats.org/officeDocument/2006/relationships" r:embed="rId4"/>
          <a:stretch>
            <a:fillRect/>
          </a:stretch>
        </p:blipFill>
        <p:spPr>
          <a:xfrm>
            <a:off x="392906" y="2339578"/>
            <a:ext cx="160734" cy="128588"/>
          </a:xfrm>
          <a:prstGeom prst="rect"/>
        </p:spPr>
      </p:pic>
      <p:sp>
        <p:nvSpPr>
          <p:cNvPr id="1048705" name="Text 5"/>
          <p:cNvSpPr/>
          <p:nvPr/>
        </p:nvSpPr>
        <p:spPr>
          <a:xfrm>
            <a:off x="625078" y="2346721"/>
            <a:ext cx="1452761"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Hospital-specific demand factors </a:t>
            </a:r>
            <a:endParaRPr dirty="0" sz="942" lang="en-US"/>
          </a:p>
        </p:txBody>
      </p:sp>
      <p:pic>
        <p:nvPicPr>
          <p:cNvPr id="2097209" name="Image 4" descr="preencoded.png"/>
          <p:cNvPicPr>
            <a:picLocks noChangeAspect="1"/>
          </p:cNvPicPr>
          <p:nvPr/>
        </p:nvPicPr>
        <p:blipFill>
          <a:blip xmlns:r="http://schemas.openxmlformats.org/officeDocument/2006/relationships" r:embed="rId5"/>
          <a:stretch>
            <a:fillRect/>
          </a:stretch>
        </p:blipFill>
        <p:spPr>
          <a:xfrm>
            <a:off x="392906" y="2603897"/>
            <a:ext cx="160734" cy="128588"/>
          </a:xfrm>
          <a:prstGeom prst="rect"/>
        </p:spPr>
      </p:pic>
      <p:sp>
        <p:nvSpPr>
          <p:cNvPr id="1048706" name="Text 6"/>
          <p:cNvSpPr/>
          <p:nvPr/>
        </p:nvSpPr>
        <p:spPr>
          <a:xfrm>
            <a:off x="625078" y="2611040"/>
            <a:ext cx="1366590"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Surgical schedule integration </a:t>
            </a:r>
            <a:endParaRPr dirty="0" sz="942" lang="en-US"/>
          </a:p>
        </p:txBody>
      </p:sp>
      <p:pic>
        <p:nvPicPr>
          <p:cNvPr id="2097210" name="Image 5" descr="preencoded.png"/>
          <p:cNvPicPr>
            <a:picLocks noChangeAspect="1"/>
          </p:cNvPicPr>
          <p:nvPr/>
        </p:nvPicPr>
        <p:blipFill>
          <a:blip xmlns:r="http://schemas.openxmlformats.org/officeDocument/2006/relationships" r:embed="rId6"/>
          <a:stretch>
            <a:fillRect/>
          </a:stretch>
        </p:blipFill>
        <p:spPr>
          <a:xfrm>
            <a:off x="392906" y="2868216"/>
            <a:ext cx="128588" cy="128588"/>
          </a:xfrm>
          <a:prstGeom prst="rect"/>
        </p:spPr>
      </p:pic>
      <p:sp>
        <p:nvSpPr>
          <p:cNvPr id="1048707" name="Text 7"/>
          <p:cNvSpPr/>
          <p:nvPr/>
        </p:nvSpPr>
        <p:spPr>
          <a:xfrm>
            <a:off x="592931" y="2875359"/>
            <a:ext cx="1669108"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Blood group/component stratification </a:t>
            </a:r>
            <a:endParaRPr dirty="0" sz="942" lang="en-US"/>
          </a:p>
        </p:txBody>
      </p:sp>
      <p:pic>
        <p:nvPicPr>
          <p:cNvPr id="2097211" name="Image 6" descr="preencoded.png"/>
          <p:cNvPicPr>
            <a:picLocks noChangeAspect="1"/>
          </p:cNvPicPr>
          <p:nvPr/>
        </p:nvPicPr>
        <p:blipFill>
          <a:blip xmlns:r="http://schemas.openxmlformats.org/officeDocument/2006/relationships" r:embed="rId7"/>
          <a:stretch>
            <a:fillRect/>
          </a:stretch>
        </p:blipFill>
        <p:spPr>
          <a:xfrm>
            <a:off x="285750" y="3464719"/>
            <a:ext cx="214313" cy="171450"/>
          </a:xfrm>
          <a:prstGeom prst="rect"/>
        </p:spPr>
      </p:pic>
      <p:sp>
        <p:nvSpPr>
          <p:cNvPr id="1048708" name="Text 8"/>
          <p:cNvSpPr/>
          <p:nvPr/>
        </p:nvSpPr>
        <p:spPr>
          <a:xfrm>
            <a:off x="571500" y="3467893"/>
            <a:ext cx="1545580" cy="165101"/>
          </a:xfrm>
          <a:prstGeom prst="rect"/>
          <a:noFill/>
        </p:spPr>
        <p:txBody>
          <a:bodyPr anchor="ctr" bIns="0" lIns="0" rIns="0" rtlCol="0" tIns="0" wrap="none">
            <a:spAutoFit/>
          </a:bodyPr>
          <a:p>
            <a:pPr indent="0" marL="0">
              <a:buNone/>
            </a:pPr>
            <a:r>
              <a:rPr b="1" dirty="0" sz="1350" lang="en-US">
                <a:solidFill>
                  <a:srgbClr val="0077B6"/>
                </a:solidFill>
                <a:latin typeface="Noto Sans" pitchFamily="34" charset="0"/>
                <a:ea typeface="Noto Sans" pitchFamily="34" charset="-122"/>
                <a:cs typeface="Noto Sans" pitchFamily="34" charset="-120"/>
              </a:rPr>
              <a:t> Donor Likelihood Model </a:t>
            </a:r>
            <a:endParaRPr dirty="0" sz="1350" lang="en-US"/>
          </a:p>
        </p:txBody>
      </p:sp>
      <p:sp>
        <p:nvSpPr>
          <p:cNvPr id="1048709" name="Text 9"/>
          <p:cNvSpPr/>
          <p:nvPr/>
        </p:nvSpPr>
        <p:spPr>
          <a:xfrm>
            <a:off x="285750" y="3864769"/>
            <a:ext cx="4179094" cy="228601"/>
          </a:xfrm>
          <a:prstGeom prst="rect"/>
          <a:noFill/>
        </p:spPr>
        <p:txBody>
          <a:bodyPr anchor="ctr" bIns="0" lIns="0" rIns="0" rtlCol="0" tIns="0" wrap="square">
            <a:spAutoFit/>
          </a:bodyPr>
          <a:p>
            <a:pPr indent="0" marL="0">
              <a:buNone/>
            </a:pPr>
            <a:r>
              <a:rPr dirty="0" sz="942" lang="en-US">
                <a:solidFill>
                  <a:srgbClr val="333333"/>
                </a:solidFill>
                <a:latin typeface="Noto Sans" pitchFamily="34" charset="0"/>
                <a:ea typeface="Noto Sans" pitchFamily="34" charset="-122"/>
                <a:cs typeface="Noto Sans" pitchFamily="34" charset="-120"/>
              </a:rPr>
              <a:t> Classification model that estimates donor availability and probability of donation based on historical patterns and contextual factors. </a:t>
            </a:r>
            <a:endParaRPr dirty="0" sz="942" lang="en-US"/>
          </a:p>
        </p:txBody>
      </p:sp>
      <p:sp>
        <p:nvSpPr>
          <p:cNvPr id="1048710" name="Shape 10"/>
          <p:cNvSpPr/>
          <p:nvPr/>
        </p:nvSpPr>
        <p:spPr>
          <a:xfrm>
            <a:off x="285750" y="4279106"/>
            <a:ext cx="4179094" cy="1271588"/>
          </a:xfrm>
          <a:prstGeom prst="rect"/>
          <a:solidFill>
            <a:srgbClr val="F8F9FA"/>
          </a:solidFill>
        </p:spPr>
      </p:sp>
      <p:pic>
        <p:nvPicPr>
          <p:cNvPr id="2097212" name="Image 7" descr="preencoded.png"/>
          <p:cNvPicPr>
            <a:picLocks noChangeAspect="1"/>
          </p:cNvPicPr>
          <p:nvPr/>
        </p:nvPicPr>
        <p:blipFill>
          <a:blip xmlns:r="http://schemas.openxmlformats.org/officeDocument/2006/relationships" r:embed="rId8"/>
          <a:stretch>
            <a:fillRect/>
          </a:stretch>
        </p:blipFill>
        <p:spPr>
          <a:xfrm>
            <a:off x="392906" y="4418409"/>
            <a:ext cx="128588" cy="128588"/>
          </a:xfrm>
          <a:prstGeom prst="rect"/>
        </p:spPr>
      </p:pic>
      <p:sp>
        <p:nvSpPr>
          <p:cNvPr id="1048711" name="Text 11"/>
          <p:cNvSpPr/>
          <p:nvPr/>
        </p:nvSpPr>
        <p:spPr>
          <a:xfrm>
            <a:off x="592931" y="4425553"/>
            <a:ext cx="1202383"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Donation recency analysis </a:t>
            </a:r>
            <a:endParaRPr dirty="0" sz="942" lang="en-US"/>
          </a:p>
        </p:txBody>
      </p:sp>
      <p:pic>
        <p:nvPicPr>
          <p:cNvPr id="2097213" name="Image 8" descr="preencoded.png"/>
          <p:cNvPicPr>
            <a:picLocks noChangeAspect="1"/>
          </p:cNvPicPr>
          <p:nvPr/>
        </p:nvPicPr>
        <p:blipFill>
          <a:blip xmlns:r="http://schemas.openxmlformats.org/officeDocument/2006/relationships" r:embed="rId9"/>
          <a:stretch>
            <a:fillRect/>
          </a:stretch>
        </p:blipFill>
        <p:spPr>
          <a:xfrm>
            <a:off x="392906" y="4682728"/>
            <a:ext cx="96441" cy="128588"/>
          </a:xfrm>
          <a:prstGeom prst="rect"/>
        </p:spPr>
      </p:pic>
      <p:sp>
        <p:nvSpPr>
          <p:cNvPr id="1048712" name="Text 12"/>
          <p:cNvSpPr/>
          <p:nvPr/>
        </p:nvSpPr>
        <p:spPr>
          <a:xfrm>
            <a:off x="560784" y="4689871"/>
            <a:ext cx="1402061"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Geographical proximity scoring </a:t>
            </a:r>
            <a:endParaRPr dirty="0" sz="942" lang="en-US"/>
          </a:p>
        </p:txBody>
      </p:sp>
      <p:pic>
        <p:nvPicPr>
          <p:cNvPr id="2097214" name="Image 9" descr="preencoded.png"/>
          <p:cNvPicPr>
            <a:picLocks noChangeAspect="1"/>
          </p:cNvPicPr>
          <p:nvPr/>
        </p:nvPicPr>
        <p:blipFill>
          <a:blip xmlns:r="http://schemas.openxmlformats.org/officeDocument/2006/relationships" r:embed="rId10"/>
          <a:stretch>
            <a:fillRect/>
          </a:stretch>
        </p:blipFill>
        <p:spPr>
          <a:xfrm>
            <a:off x="392906" y="4947047"/>
            <a:ext cx="112514" cy="128588"/>
          </a:xfrm>
          <a:prstGeom prst="rect"/>
        </p:spPr>
      </p:pic>
      <p:sp>
        <p:nvSpPr>
          <p:cNvPr id="1048713" name="Text 13"/>
          <p:cNvSpPr/>
          <p:nvPr/>
        </p:nvSpPr>
        <p:spPr>
          <a:xfrm>
            <a:off x="576858" y="4954190"/>
            <a:ext cx="1254919"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Eligibility window tracking </a:t>
            </a:r>
            <a:endParaRPr dirty="0" sz="942" lang="en-US"/>
          </a:p>
        </p:txBody>
      </p:sp>
      <p:pic>
        <p:nvPicPr>
          <p:cNvPr id="2097215" name="Image 10" descr="preencoded.png"/>
          <p:cNvPicPr>
            <a:picLocks noChangeAspect="1"/>
          </p:cNvPicPr>
          <p:nvPr/>
        </p:nvPicPr>
        <p:blipFill>
          <a:blip xmlns:r="http://schemas.openxmlformats.org/officeDocument/2006/relationships" r:embed="rId11"/>
          <a:stretch>
            <a:fillRect/>
          </a:stretch>
        </p:blipFill>
        <p:spPr>
          <a:xfrm>
            <a:off x="392906" y="5211366"/>
            <a:ext cx="112514" cy="128588"/>
          </a:xfrm>
          <a:prstGeom prst="rect"/>
        </p:spPr>
      </p:pic>
      <p:sp>
        <p:nvSpPr>
          <p:cNvPr id="1048714" name="Text 14"/>
          <p:cNvSpPr/>
          <p:nvPr/>
        </p:nvSpPr>
        <p:spPr>
          <a:xfrm>
            <a:off x="576858" y="5218509"/>
            <a:ext cx="1186855" cy="11430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Response rate optimization </a:t>
            </a:r>
            <a:endParaRPr dirty="0" sz="942" lang="en-US"/>
          </a:p>
        </p:txBody>
      </p:sp>
      <p:pic>
        <p:nvPicPr>
          <p:cNvPr id="2097216" name="Image 11" descr="preencoded.png"/>
          <p:cNvPicPr>
            <a:picLocks noChangeAspect="1"/>
          </p:cNvPicPr>
          <p:nvPr/>
        </p:nvPicPr>
        <p:blipFill>
          <a:blip xmlns:r="http://schemas.openxmlformats.org/officeDocument/2006/relationships" r:embed="rId12"/>
          <a:stretch>
            <a:fillRect/>
          </a:stretch>
        </p:blipFill>
        <p:spPr>
          <a:xfrm>
            <a:off x="4679156" y="1539478"/>
            <a:ext cx="4179094" cy="3571875"/>
          </a:xfrm>
          <a:prstGeom prst="rec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33" name=""/>
        <p:cNvGrpSpPr/>
        <p:nvPr/>
      </p:nvGrpSpPr>
      <p:grpSpPr>
        <a:xfrm>
          <a:off x="0" y="0"/>
          <a:ext cx="0" cy="0"/>
          <a:chOff x="0" y="0"/>
          <a:chExt cx="0" cy="0"/>
        </a:xfrm>
      </p:grpSpPr>
      <p:pic>
        <p:nvPicPr>
          <p:cNvPr id="2097217" name="Image 0" descr="preencoded.png"/>
          <p:cNvPicPr>
            <a:picLocks noChangeAspect="1"/>
          </p:cNvPicPr>
          <p:nvPr/>
        </p:nvPicPr>
        <p:blipFill>
          <a:blip xmlns:r="http://schemas.openxmlformats.org/officeDocument/2006/relationships" r:embed="rId1"/>
          <a:stretch>
            <a:fillRect/>
          </a:stretch>
        </p:blipFill>
        <p:spPr>
          <a:xfrm>
            <a:off x="0" y="0"/>
            <a:ext cx="9144000" cy="5886450"/>
          </a:xfrm>
          <a:prstGeom prst="rect"/>
        </p:spPr>
      </p:pic>
      <p:sp>
        <p:nvSpPr>
          <p:cNvPr id="1048718" name="Text 0"/>
          <p:cNvSpPr/>
          <p:nvPr/>
        </p:nvSpPr>
        <p:spPr>
          <a:xfrm>
            <a:off x="285750" y="285750"/>
            <a:ext cx="8572500" cy="385763"/>
          </a:xfrm>
          <a:prstGeom prst="rect"/>
          <a:noFill/>
        </p:spPr>
        <p:txBody>
          <a:bodyPr anchor="ctr" bIns="0" lIns="0" rIns="0" rtlCol="0" tIns="0" wrap="none">
            <a:spAutoFit/>
          </a:bodyPr>
          <a:p>
            <a:pPr algn="ctr" indent="0" marL="0">
              <a:buNone/>
            </a:pPr>
            <a:r>
              <a:rPr b="1" dirty="0" sz="2025" lang="en-US">
                <a:solidFill>
                  <a:srgbClr val="0077B6"/>
                </a:solidFill>
                <a:latin typeface="Noto Sans" pitchFamily="34" charset="0"/>
                <a:ea typeface="Noto Sans" pitchFamily="34" charset="-122"/>
                <a:cs typeface="Noto Sans" pitchFamily="34" charset="-120"/>
              </a:rPr>
              <a:t>Testing &amp; Performance Evaluation</a:t>
            </a:r>
            <a:endParaRPr dirty="0" sz="2025" lang="en-US"/>
          </a:p>
        </p:txBody>
      </p:sp>
      <p:pic>
        <p:nvPicPr>
          <p:cNvPr id="2097218" name="Image 1" descr="preencoded.png"/>
          <p:cNvPicPr>
            <a:picLocks noChangeAspect="1"/>
          </p:cNvPicPr>
          <p:nvPr/>
        </p:nvPicPr>
        <p:blipFill>
          <a:blip xmlns:r="http://schemas.openxmlformats.org/officeDocument/2006/relationships" r:embed="rId2"/>
          <a:stretch>
            <a:fillRect/>
          </a:stretch>
        </p:blipFill>
        <p:spPr>
          <a:xfrm>
            <a:off x="285750" y="928688"/>
            <a:ext cx="171450" cy="171450"/>
          </a:xfrm>
          <a:prstGeom prst="rect"/>
        </p:spPr>
      </p:pic>
      <p:sp>
        <p:nvSpPr>
          <p:cNvPr id="1048719" name="Text 1"/>
          <p:cNvSpPr/>
          <p:nvPr/>
        </p:nvSpPr>
        <p:spPr>
          <a:xfrm>
            <a:off x="528638" y="885825"/>
            <a:ext cx="1942877" cy="257175"/>
          </a:xfrm>
          <a:prstGeom prst="rect"/>
          <a:noFill/>
        </p:spPr>
        <p:txBody>
          <a:bodyPr anchor="ctr" bIns="0" lIns="0" rIns="0" rtlCol="0" tIns="0" wrap="none">
            <a:spAutoFit/>
          </a:bodyPr>
          <a:p>
            <a:pPr indent="0" marL="0">
              <a:buNone/>
            </a:pPr>
            <a:r>
              <a:rPr b="1" dirty="0" sz="1350" lang="en-US">
                <a:solidFill>
                  <a:srgbClr val="0077B6"/>
                </a:solidFill>
                <a:latin typeface="Noto Sans" pitchFamily="34" charset="0"/>
                <a:ea typeface="Noto Sans" pitchFamily="34" charset="-122"/>
                <a:cs typeface="Noto Sans" pitchFamily="34" charset="-120"/>
              </a:rPr>
              <a:t> Testing Methodologies </a:t>
            </a:r>
            <a:endParaRPr dirty="0" sz="1350" lang="en-US"/>
          </a:p>
        </p:txBody>
      </p:sp>
      <p:sp>
        <p:nvSpPr>
          <p:cNvPr id="1048720" name="Shape 2"/>
          <p:cNvSpPr/>
          <p:nvPr/>
        </p:nvSpPr>
        <p:spPr>
          <a:xfrm>
            <a:off x="285750" y="1250156"/>
            <a:ext cx="1142749" cy="335756"/>
          </a:xfrm>
          <a:prstGeom prst="rect"/>
          <a:solidFill>
            <a:srgbClr val="F8F9FA"/>
          </a:solidFill>
        </p:spPr>
      </p:sp>
      <p:sp>
        <p:nvSpPr>
          <p:cNvPr id="1048721" name="Shape 3"/>
          <p:cNvSpPr/>
          <p:nvPr/>
        </p:nvSpPr>
        <p:spPr>
          <a:xfrm>
            <a:off x="285750" y="1250156"/>
            <a:ext cx="21431" cy="335756"/>
          </a:xfrm>
          <a:prstGeom prst="rect"/>
          <a:solidFill>
            <a:srgbClr val="00B4D8"/>
          </a:solidFill>
        </p:spPr>
      </p:sp>
      <p:pic>
        <p:nvPicPr>
          <p:cNvPr id="2097219" name="Image 2" descr="preencoded.png"/>
          <p:cNvPicPr>
            <a:picLocks noChangeAspect="1"/>
          </p:cNvPicPr>
          <p:nvPr/>
        </p:nvPicPr>
        <p:blipFill>
          <a:blip xmlns:r="http://schemas.openxmlformats.org/officeDocument/2006/relationships" r:embed="rId3"/>
          <a:stretch>
            <a:fillRect/>
          </a:stretch>
        </p:blipFill>
        <p:spPr>
          <a:xfrm>
            <a:off x="392906" y="1353741"/>
            <a:ext cx="128588" cy="128588"/>
          </a:xfrm>
          <a:prstGeom prst="rect"/>
        </p:spPr>
      </p:pic>
      <p:sp>
        <p:nvSpPr>
          <p:cNvPr id="1048722" name="Text 4"/>
          <p:cNvSpPr/>
          <p:nvPr/>
        </p:nvSpPr>
        <p:spPr>
          <a:xfrm>
            <a:off x="578644" y="1321594"/>
            <a:ext cx="721268"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Unit Testing </a:t>
            </a:r>
            <a:endParaRPr dirty="0" sz="942" lang="en-US"/>
          </a:p>
        </p:txBody>
      </p:sp>
      <p:sp>
        <p:nvSpPr>
          <p:cNvPr id="1048723" name="Shape 5"/>
          <p:cNvSpPr/>
          <p:nvPr/>
        </p:nvSpPr>
        <p:spPr>
          <a:xfrm>
            <a:off x="1478505" y="1250156"/>
            <a:ext cx="1586359" cy="335756"/>
          </a:xfrm>
          <a:prstGeom prst="rect"/>
          <a:solidFill>
            <a:srgbClr val="F8F9FA"/>
          </a:solidFill>
        </p:spPr>
      </p:sp>
      <p:sp>
        <p:nvSpPr>
          <p:cNvPr id="1048724" name="Shape 6"/>
          <p:cNvSpPr/>
          <p:nvPr/>
        </p:nvSpPr>
        <p:spPr>
          <a:xfrm>
            <a:off x="1478505" y="1250156"/>
            <a:ext cx="21431" cy="335756"/>
          </a:xfrm>
          <a:prstGeom prst="rect"/>
          <a:solidFill>
            <a:srgbClr val="00B4D8"/>
          </a:solidFill>
        </p:spPr>
      </p:sp>
      <p:pic>
        <p:nvPicPr>
          <p:cNvPr id="2097220" name="Image 3" descr="preencoded.png"/>
          <p:cNvPicPr>
            <a:picLocks noChangeAspect="1"/>
          </p:cNvPicPr>
          <p:nvPr/>
        </p:nvPicPr>
        <p:blipFill>
          <a:blip xmlns:r="http://schemas.openxmlformats.org/officeDocument/2006/relationships" r:embed="rId4"/>
          <a:stretch>
            <a:fillRect/>
          </a:stretch>
        </p:blipFill>
        <p:spPr>
          <a:xfrm>
            <a:off x="1585661" y="1353741"/>
            <a:ext cx="144661" cy="128588"/>
          </a:xfrm>
          <a:prstGeom prst="rect"/>
        </p:spPr>
      </p:pic>
      <p:sp>
        <p:nvSpPr>
          <p:cNvPr id="1048725" name="Text 7"/>
          <p:cNvSpPr/>
          <p:nvPr/>
        </p:nvSpPr>
        <p:spPr>
          <a:xfrm>
            <a:off x="1787472" y="1321594"/>
            <a:ext cx="1148804"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Integration Testing </a:t>
            </a:r>
            <a:endParaRPr dirty="0" sz="942" lang="en-US"/>
          </a:p>
        </p:txBody>
      </p:sp>
      <p:sp>
        <p:nvSpPr>
          <p:cNvPr id="1048726" name="Shape 8"/>
          <p:cNvSpPr/>
          <p:nvPr/>
        </p:nvSpPr>
        <p:spPr>
          <a:xfrm>
            <a:off x="285750" y="1657350"/>
            <a:ext cx="1342690" cy="335756"/>
          </a:xfrm>
          <a:prstGeom prst="rect"/>
          <a:solidFill>
            <a:srgbClr val="F8F9FA"/>
          </a:solidFill>
        </p:spPr>
      </p:sp>
      <p:sp>
        <p:nvSpPr>
          <p:cNvPr id="1048727" name="Shape 9"/>
          <p:cNvSpPr/>
          <p:nvPr/>
        </p:nvSpPr>
        <p:spPr>
          <a:xfrm>
            <a:off x="285750" y="1657350"/>
            <a:ext cx="21431" cy="335756"/>
          </a:xfrm>
          <a:prstGeom prst="rect"/>
          <a:solidFill>
            <a:srgbClr val="00B4D8"/>
          </a:solidFill>
        </p:spPr>
      </p:sp>
      <p:pic>
        <p:nvPicPr>
          <p:cNvPr id="2097221" name="Image 4" descr="preencoded.png"/>
          <p:cNvPicPr>
            <a:picLocks noChangeAspect="1"/>
          </p:cNvPicPr>
          <p:nvPr/>
        </p:nvPicPr>
        <p:blipFill>
          <a:blip xmlns:r="http://schemas.openxmlformats.org/officeDocument/2006/relationships" r:embed="rId5"/>
          <a:stretch>
            <a:fillRect/>
          </a:stretch>
        </p:blipFill>
        <p:spPr>
          <a:xfrm>
            <a:off x="392906" y="1760934"/>
            <a:ext cx="144661" cy="128588"/>
          </a:xfrm>
          <a:prstGeom prst="rect"/>
        </p:spPr>
      </p:pic>
      <p:sp>
        <p:nvSpPr>
          <p:cNvPr id="1048728" name="Text 10"/>
          <p:cNvSpPr/>
          <p:nvPr/>
        </p:nvSpPr>
        <p:spPr>
          <a:xfrm>
            <a:off x="594717" y="1728788"/>
            <a:ext cx="905135"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System Testing </a:t>
            </a:r>
            <a:endParaRPr dirty="0" sz="942" lang="en-US"/>
          </a:p>
        </p:txBody>
      </p:sp>
      <p:sp>
        <p:nvSpPr>
          <p:cNvPr id="1048729" name="Shape 11"/>
          <p:cNvSpPr/>
          <p:nvPr/>
        </p:nvSpPr>
        <p:spPr>
          <a:xfrm>
            <a:off x="1678446" y="1657350"/>
            <a:ext cx="1690390" cy="335756"/>
          </a:xfrm>
          <a:prstGeom prst="rect"/>
          <a:solidFill>
            <a:srgbClr val="F8F9FA"/>
          </a:solidFill>
        </p:spPr>
      </p:sp>
      <p:sp>
        <p:nvSpPr>
          <p:cNvPr id="1048730" name="Shape 12"/>
          <p:cNvSpPr/>
          <p:nvPr/>
        </p:nvSpPr>
        <p:spPr>
          <a:xfrm>
            <a:off x="1678446" y="1657350"/>
            <a:ext cx="21431" cy="335756"/>
          </a:xfrm>
          <a:prstGeom prst="rect"/>
          <a:solidFill>
            <a:srgbClr val="00B4D8"/>
          </a:solidFill>
        </p:spPr>
      </p:sp>
      <p:pic>
        <p:nvPicPr>
          <p:cNvPr id="2097222" name="Image 5" descr="preencoded.png"/>
          <p:cNvPicPr>
            <a:picLocks noChangeAspect="1"/>
          </p:cNvPicPr>
          <p:nvPr/>
        </p:nvPicPr>
        <p:blipFill>
          <a:blip xmlns:r="http://schemas.openxmlformats.org/officeDocument/2006/relationships" r:embed="rId6"/>
          <a:stretch>
            <a:fillRect/>
          </a:stretch>
        </p:blipFill>
        <p:spPr>
          <a:xfrm>
            <a:off x="1785603" y="1760934"/>
            <a:ext cx="144661" cy="128588"/>
          </a:xfrm>
          <a:prstGeom prst="rect"/>
        </p:spPr>
      </p:pic>
      <p:sp>
        <p:nvSpPr>
          <p:cNvPr id="1048731" name="Text 13"/>
          <p:cNvSpPr/>
          <p:nvPr/>
        </p:nvSpPr>
        <p:spPr>
          <a:xfrm>
            <a:off x="1987414" y="1728788"/>
            <a:ext cx="1252835"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Performance Testing </a:t>
            </a:r>
            <a:endParaRPr dirty="0" sz="942" lang="en-US"/>
          </a:p>
        </p:txBody>
      </p:sp>
      <p:sp>
        <p:nvSpPr>
          <p:cNvPr id="1048732" name="Shape 14"/>
          <p:cNvSpPr/>
          <p:nvPr/>
        </p:nvSpPr>
        <p:spPr>
          <a:xfrm>
            <a:off x="285750" y="2064544"/>
            <a:ext cx="1372270" cy="335756"/>
          </a:xfrm>
          <a:prstGeom prst="rect"/>
          <a:solidFill>
            <a:srgbClr val="F8F9FA"/>
          </a:solidFill>
        </p:spPr>
      </p:sp>
      <p:sp>
        <p:nvSpPr>
          <p:cNvPr id="1048733" name="Shape 15"/>
          <p:cNvSpPr/>
          <p:nvPr/>
        </p:nvSpPr>
        <p:spPr>
          <a:xfrm>
            <a:off x="285750" y="2064544"/>
            <a:ext cx="21431" cy="335756"/>
          </a:xfrm>
          <a:prstGeom prst="rect"/>
          <a:solidFill>
            <a:srgbClr val="00B4D8"/>
          </a:solidFill>
        </p:spPr>
      </p:sp>
      <p:pic>
        <p:nvPicPr>
          <p:cNvPr id="2097223" name="Image 6" descr="preencoded.png"/>
          <p:cNvPicPr>
            <a:picLocks noChangeAspect="1"/>
          </p:cNvPicPr>
          <p:nvPr/>
        </p:nvPicPr>
        <p:blipFill>
          <a:blip xmlns:r="http://schemas.openxmlformats.org/officeDocument/2006/relationships" r:embed="rId7"/>
          <a:stretch>
            <a:fillRect/>
          </a:stretch>
        </p:blipFill>
        <p:spPr>
          <a:xfrm>
            <a:off x="392906" y="2168128"/>
            <a:ext cx="128588" cy="128588"/>
          </a:xfrm>
          <a:prstGeom prst="rect"/>
        </p:spPr>
      </p:pic>
      <p:sp>
        <p:nvSpPr>
          <p:cNvPr id="1048734" name="Text 16"/>
          <p:cNvSpPr/>
          <p:nvPr/>
        </p:nvSpPr>
        <p:spPr>
          <a:xfrm>
            <a:off x="578644" y="2135981"/>
            <a:ext cx="950788"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Security Testing </a:t>
            </a:r>
            <a:endParaRPr dirty="0" sz="942" lang="en-US"/>
          </a:p>
        </p:txBody>
      </p:sp>
      <p:sp>
        <p:nvSpPr>
          <p:cNvPr id="1048735" name="Shape 17"/>
          <p:cNvSpPr/>
          <p:nvPr/>
        </p:nvSpPr>
        <p:spPr>
          <a:xfrm>
            <a:off x="1708026" y="2064544"/>
            <a:ext cx="1925966" cy="335756"/>
          </a:xfrm>
          <a:prstGeom prst="rect"/>
          <a:solidFill>
            <a:srgbClr val="F8F9FA"/>
          </a:solidFill>
        </p:spPr>
      </p:sp>
      <p:sp>
        <p:nvSpPr>
          <p:cNvPr id="1048736" name="Shape 18"/>
          <p:cNvSpPr/>
          <p:nvPr/>
        </p:nvSpPr>
        <p:spPr>
          <a:xfrm>
            <a:off x="1708026" y="2064544"/>
            <a:ext cx="21431" cy="335756"/>
          </a:xfrm>
          <a:prstGeom prst="rect"/>
          <a:solidFill>
            <a:srgbClr val="00B4D8"/>
          </a:solidFill>
        </p:spPr>
      </p:sp>
      <p:pic>
        <p:nvPicPr>
          <p:cNvPr id="2097224" name="Image 7" descr="preencoded.png"/>
          <p:cNvPicPr>
            <a:picLocks noChangeAspect="1"/>
          </p:cNvPicPr>
          <p:nvPr/>
        </p:nvPicPr>
        <p:blipFill>
          <a:blip xmlns:r="http://schemas.openxmlformats.org/officeDocument/2006/relationships" r:embed="rId8"/>
          <a:stretch>
            <a:fillRect/>
          </a:stretch>
        </p:blipFill>
        <p:spPr>
          <a:xfrm>
            <a:off x="1815182" y="2168128"/>
            <a:ext cx="160734" cy="128588"/>
          </a:xfrm>
          <a:prstGeom prst="rect"/>
        </p:spPr>
      </p:pic>
      <p:sp>
        <p:nvSpPr>
          <p:cNvPr id="1048737" name="Text 19"/>
          <p:cNvSpPr/>
          <p:nvPr/>
        </p:nvSpPr>
        <p:spPr>
          <a:xfrm>
            <a:off x="2033067" y="2135981"/>
            <a:ext cx="1472338"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User Acceptance Testing </a:t>
            </a:r>
            <a:endParaRPr dirty="0" sz="942" lang="en-US"/>
          </a:p>
        </p:txBody>
      </p:sp>
      <p:pic>
        <p:nvPicPr>
          <p:cNvPr id="2097225" name="Image 8" descr="preencoded.png"/>
          <p:cNvPicPr>
            <a:picLocks noChangeAspect="1"/>
          </p:cNvPicPr>
          <p:nvPr/>
        </p:nvPicPr>
        <p:blipFill>
          <a:blip xmlns:r="http://schemas.openxmlformats.org/officeDocument/2006/relationships" r:embed="rId9"/>
          <a:stretch>
            <a:fillRect/>
          </a:stretch>
        </p:blipFill>
        <p:spPr>
          <a:xfrm>
            <a:off x="285750" y="2657475"/>
            <a:ext cx="171450" cy="171450"/>
          </a:xfrm>
          <a:prstGeom prst="rect"/>
        </p:spPr>
      </p:pic>
      <p:sp>
        <p:nvSpPr>
          <p:cNvPr id="1048738" name="Text 20"/>
          <p:cNvSpPr/>
          <p:nvPr/>
        </p:nvSpPr>
        <p:spPr>
          <a:xfrm>
            <a:off x="528638" y="2614613"/>
            <a:ext cx="2674302" cy="257175"/>
          </a:xfrm>
          <a:prstGeom prst="rect"/>
          <a:noFill/>
        </p:spPr>
        <p:txBody>
          <a:bodyPr anchor="ctr" bIns="0" lIns="0" rIns="0" rtlCol="0" tIns="0" wrap="none">
            <a:spAutoFit/>
          </a:bodyPr>
          <a:p>
            <a:pPr indent="0" marL="0">
              <a:buNone/>
            </a:pPr>
            <a:r>
              <a:rPr b="1" dirty="0" sz="1350" lang="en-US">
                <a:solidFill>
                  <a:srgbClr val="0077B6"/>
                </a:solidFill>
                <a:latin typeface="Noto Sans" pitchFamily="34" charset="0"/>
                <a:ea typeface="Noto Sans" pitchFamily="34" charset="-122"/>
                <a:cs typeface="Noto Sans" pitchFamily="34" charset="-120"/>
              </a:rPr>
              <a:t> ML Model Performance Metrics </a:t>
            </a:r>
            <a:endParaRPr dirty="0" sz="1350" lang="en-US"/>
          </a:p>
        </p:txBody>
      </p:sp>
      <p:pic>
        <p:nvPicPr>
          <p:cNvPr id="2097226" name="Image 9" descr="preencoded.png"/>
          <p:cNvPicPr>
            <a:picLocks noChangeAspect="1"/>
          </p:cNvPicPr>
          <p:nvPr/>
        </p:nvPicPr>
        <p:blipFill>
          <a:blip xmlns:r="http://schemas.openxmlformats.org/officeDocument/2006/relationships" r:embed="rId10"/>
          <a:stretch>
            <a:fillRect/>
          </a:stretch>
        </p:blipFill>
        <p:spPr>
          <a:xfrm>
            <a:off x="285750" y="3011091"/>
            <a:ext cx="128588" cy="128588"/>
          </a:xfrm>
          <a:prstGeom prst="rect"/>
        </p:spPr>
      </p:pic>
      <p:sp>
        <p:nvSpPr>
          <p:cNvPr id="1048739" name="Text 21"/>
          <p:cNvSpPr/>
          <p:nvPr/>
        </p:nvSpPr>
        <p:spPr>
          <a:xfrm>
            <a:off x="485775" y="2978944"/>
            <a:ext cx="3017704"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Mean Absolute Error (MAE) for demand prediction </a:t>
            </a:r>
            <a:endParaRPr dirty="0" sz="942" lang="en-US"/>
          </a:p>
        </p:txBody>
      </p:sp>
      <p:pic>
        <p:nvPicPr>
          <p:cNvPr id="2097227" name="Image 10" descr="preencoded.png"/>
          <p:cNvPicPr>
            <a:picLocks noChangeAspect="1"/>
          </p:cNvPicPr>
          <p:nvPr/>
        </p:nvPicPr>
        <p:blipFill>
          <a:blip xmlns:r="http://schemas.openxmlformats.org/officeDocument/2006/relationships" r:embed="rId11"/>
          <a:stretch>
            <a:fillRect/>
          </a:stretch>
        </p:blipFill>
        <p:spPr>
          <a:xfrm>
            <a:off x="285750" y="3275409"/>
            <a:ext cx="128588" cy="128588"/>
          </a:xfrm>
          <a:prstGeom prst="rect"/>
        </p:spPr>
      </p:pic>
      <p:sp>
        <p:nvSpPr>
          <p:cNvPr id="1048740" name="Text 22"/>
          <p:cNvSpPr/>
          <p:nvPr/>
        </p:nvSpPr>
        <p:spPr>
          <a:xfrm>
            <a:off x="485775" y="3243263"/>
            <a:ext cx="3269214"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Root Mean Squared Error (RMSE) for forecast accuracy </a:t>
            </a:r>
            <a:endParaRPr dirty="0" sz="942" lang="en-US"/>
          </a:p>
        </p:txBody>
      </p:sp>
      <p:pic>
        <p:nvPicPr>
          <p:cNvPr id="2097228" name="Image 11" descr="preencoded.png"/>
          <p:cNvPicPr>
            <a:picLocks noChangeAspect="1"/>
          </p:cNvPicPr>
          <p:nvPr/>
        </p:nvPicPr>
        <p:blipFill>
          <a:blip xmlns:r="http://schemas.openxmlformats.org/officeDocument/2006/relationships" r:embed="rId12"/>
          <a:stretch>
            <a:fillRect/>
          </a:stretch>
        </p:blipFill>
        <p:spPr>
          <a:xfrm>
            <a:off x="285750" y="3539728"/>
            <a:ext cx="128588" cy="128588"/>
          </a:xfrm>
          <a:prstGeom prst="rect"/>
        </p:spPr>
      </p:pic>
      <p:sp>
        <p:nvSpPr>
          <p:cNvPr id="1048741" name="Text 23"/>
          <p:cNvSpPr/>
          <p:nvPr/>
        </p:nvSpPr>
        <p:spPr>
          <a:xfrm>
            <a:off x="485775" y="3507581"/>
            <a:ext cx="2595302"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Precision/Recall for donor likelihood model </a:t>
            </a:r>
            <a:endParaRPr dirty="0" sz="942" lang="en-US"/>
          </a:p>
        </p:txBody>
      </p:sp>
      <p:pic>
        <p:nvPicPr>
          <p:cNvPr id="2097229" name="Image 12" descr="preencoded.png"/>
          <p:cNvPicPr>
            <a:picLocks noChangeAspect="1"/>
          </p:cNvPicPr>
          <p:nvPr/>
        </p:nvPicPr>
        <p:blipFill>
          <a:blip xmlns:r="http://schemas.openxmlformats.org/officeDocument/2006/relationships" r:embed="rId13"/>
          <a:stretch>
            <a:fillRect/>
          </a:stretch>
        </p:blipFill>
        <p:spPr>
          <a:xfrm>
            <a:off x="285750" y="3804047"/>
            <a:ext cx="160734" cy="128588"/>
          </a:xfrm>
          <a:prstGeom prst="rect"/>
        </p:spPr>
      </p:pic>
      <p:sp>
        <p:nvSpPr>
          <p:cNvPr id="1048742" name="Text 24"/>
          <p:cNvSpPr/>
          <p:nvPr/>
        </p:nvSpPr>
        <p:spPr>
          <a:xfrm>
            <a:off x="517922" y="3771900"/>
            <a:ext cx="2930528"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F1-Score for balanced classification performance </a:t>
            </a:r>
            <a:endParaRPr dirty="0" sz="942" lang="en-US"/>
          </a:p>
        </p:txBody>
      </p:sp>
      <p:pic>
        <p:nvPicPr>
          <p:cNvPr id="2097230" name="Image 13" descr="preencoded.png"/>
          <p:cNvPicPr>
            <a:picLocks noChangeAspect="1"/>
          </p:cNvPicPr>
          <p:nvPr/>
        </p:nvPicPr>
        <p:blipFill>
          <a:blip xmlns:r="http://schemas.openxmlformats.org/officeDocument/2006/relationships" r:embed="rId14"/>
          <a:stretch>
            <a:fillRect/>
          </a:stretch>
        </p:blipFill>
        <p:spPr>
          <a:xfrm>
            <a:off x="285750" y="4150519"/>
            <a:ext cx="171450" cy="171450"/>
          </a:xfrm>
          <a:prstGeom prst="rect"/>
        </p:spPr>
      </p:pic>
      <p:sp>
        <p:nvSpPr>
          <p:cNvPr id="1048743" name="Text 25"/>
          <p:cNvSpPr/>
          <p:nvPr/>
        </p:nvSpPr>
        <p:spPr>
          <a:xfrm>
            <a:off x="528638" y="4107656"/>
            <a:ext cx="1711096" cy="257175"/>
          </a:xfrm>
          <a:prstGeom prst="rect"/>
          <a:noFill/>
        </p:spPr>
        <p:txBody>
          <a:bodyPr anchor="ctr" bIns="0" lIns="0" rIns="0" rtlCol="0" tIns="0" wrap="none">
            <a:spAutoFit/>
          </a:bodyPr>
          <a:p>
            <a:pPr indent="0" marL="0">
              <a:buNone/>
            </a:pPr>
            <a:r>
              <a:rPr b="1" dirty="0" sz="1350" lang="en-US">
                <a:solidFill>
                  <a:srgbClr val="0077B6"/>
                </a:solidFill>
                <a:latin typeface="Noto Sans" pitchFamily="34" charset="0"/>
                <a:ea typeface="Noto Sans" pitchFamily="34" charset="-122"/>
                <a:cs typeface="Noto Sans" pitchFamily="34" charset="-120"/>
              </a:rPr>
              <a:t> Operational Metrics </a:t>
            </a:r>
            <a:endParaRPr dirty="0" sz="1350" lang="en-US"/>
          </a:p>
        </p:txBody>
      </p:sp>
      <p:pic>
        <p:nvPicPr>
          <p:cNvPr id="2097231" name="Image 14" descr="preencoded.png"/>
          <p:cNvPicPr>
            <a:picLocks noChangeAspect="1"/>
          </p:cNvPicPr>
          <p:nvPr/>
        </p:nvPicPr>
        <p:blipFill>
          <a:blip xmlns:r="http://schemas.openxmlformats.org/officeDocument/2006/relationships" r:embed="rId15"/>
          <a:stretch>
            <a:fillRect/>
          </a:stretch>
        </p:blipFill>
        <p:spPr>
          <a:xfrm>
            <a:off x="285750" y="4504134"/>
            <a:ext cx="96441" cy="128588"/>
          </a:xfrm>
          <a:prstGeom prst="rect"/>
        </p:spPr>
      </p:pic>
      <p:sp>
        <p:nvSpPr>
          <p:cNvPr id="1048744" name="Text 26"/>
          <p:cNvSpPr/>
          <p:nvPr/>
        </p:nvSpPr>
        <p:spPr>
          <a:xfrm>
            <a:off x="453628" y="4471988"/>
            <a:ext cx="2260076"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Blood shortage reduction percentage </a:t>
            </a:r>
            <a:endParaRPr dirty="0" sz="942" lang="en-US"/>
          </a:p>
        </p:txBody>
      </p:sp>
      <p:pic>
        <p:nvPicPr>
          <p:cNvPr id="2097232" name="Image 15" descr="preencoded.png"/>
          <p:cNvPicPr>
            <a:picLocks noChangeAspect="1"/>
          </p:cNvPicPr>
          <p:nvPr/>
        </p:nvPicPr>
        <p:blipFill>
          <a:blip xmlns:r="http://schemas.openxmlformats.org/officeDocument/2006/relationships" r:embed="rId16"/>
          <a:stretch>
            <a:fillRect/>
          </a:stretch>
        </p:blipFill>
        <p:spPr>
          <a:xfrm>
            <a:off x="285750" y="4768453"/>
            <a:ext cx="112514" cy="128588"/>
          </a:xfrm>
          <a:prstGeom prst="rect"/>
        </p:spPr>
      </p:pic>
      <p:sp>
        <p:nvSpPr>
          <p:cNvPr id="1048745" name="Text 27"/>
          <p:cNvSpPr/>
          <p:nvPr/>
        </p:nvSpPr>
        <p:spPr>
          <a:xfrm>
            <a:off x="469702" y="4736306"/>
            <a:ext cx="2280140"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Wastage reduction from expired units </a:t>
            </a:r>
            <a:endParaRPr dirty="0" sz="942" lang="en-US"/>
          </a:p>
        </p:txBody>
      </p:sp>
      <p:pic>
        <p:nvPicPr>
          <p:cNvPr id="2097233" name="Image 16" descr="preencoded.png"/>
          <p:cNvPicPr>
            <a:picLocks noChangeAspect="1"/>
          </p:cNvPicPr>
          <p:nvPr/>
        </p:nvPicPr>
        <p:blipFill>
          <a:blip xmlns:r="http://schemas.openxmlformats.org/officeDocument/2006/relationships" r:embed="rId17"/>
          <a:stretch>
            <a:fillRect/>
          </a:stretch>
        </p:blipFill>
        <p:spPr>
          <a:xfrm>
            <a:off x="285750" y="5032772"/>
            <a:ext cx="160734" cy="128588"/>
          </a:xfrm>
          <a:prstGeom prst="rect"/>
        </p:spPr>
      </p:pic>
      <p:sp>
        <p:nvSpPr>
          <p:cNvPr id="1048746" name="Text 28"/>
          <p:cNvSpPr/>
          <p:nvPr/>
        </p:nvSpPr>
        <p:spPr>
          <a:xfrm>
            <a:off x="517922" y="5000625"/>
            <a:ext cx="2312147"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Donor engagement rate improvement </a:t>
            </a:r>
            <a:endParaRPr dirty="0" sz="942" lang="en-US"/>
          </a:p>
        </p:txBody>
      </p:sp>
      <p:pic>
        <p:nvPicPr>
          <p:cNvPr id="2097234" name="Image 17" descr="preencoded.png"/>
          <p:cNvPicPr>
            <a:picLocks noChangeAspect="1"/>
          </p:cNvPicPr>
          <p:nvPr/>
        </p:nvPicPr>
        <p:blipFill>
          <a:blip xmlns:r="http://schemas.openxmlformats.org/officeDocument/2006/relationships" r:embed="rId18"/>
          <a:stretch>
            <a:fillRect/>
          </a:stretch>
        </p:blipFill>
        <p:spPr>
          <a:xfrm>
            <a:off x="285750" y="5297091"/>
            <a:ext cx="128588" cy="128588"/>
          </a:xfrm>
          <a:prstGeom prst="rect"/>
        </p:spPr>
      </p:pic>
      <p:sp>
        <p:nvSpPr>
          <p:cNvPr id="1048747" name="Text 29"/>
          <p:cNvSpPr/>
          <p:nvPr/>
        </p:nvSpPr>
        <p:spPr>
          <a:xfrm>
            <a:off x="485775" y="5264944"/>
            <a:ext cx="1726695"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Time to fulfill blood requests </a:t>
            </a:r>
            <a:endParaRPr dirty="0" sz="942" lang="en-US"/>
          </a:p>
        </p:txBody>
      </p:sp>
      <p:sp>
        <p:nvSpPr>
          <p:cNvPr id="1048748" name="Text 30"/>
          <p:cNvSpPr/>
          <p:nvPr/>
        </p:nvSpPr>
        <p:spPr>
          <a:xfrm>
            <a:off x="6194273" y="1653778"/>
            <a:ext cx="1148860" cy="214313"/>
          </a:xfrm>
          <a:prstGeom prst="rect"/>
          <a:noFill/>
        </p:spPr>
        <p:txBody>
          <a:bodyPr anchor="ctr" bIns="0" lIns="0" rIns="0" rtlCol="0" tIns="0" wrap="none">
            <a:spAutoFit/>
          </a:bodyPr>
          <a:p>
            <a:pPr algn="ctr" indent="0" marL="0">
              <a:buNone/>
            </a:pPr>
            <a:r>
              <a:rPr b="1" dirty="0" sz="1046" lang="en-US">
                <a:solidFill>
                  <a:srgbClr val="0077B6"/>
                </a:solidFill>
                <a:latin typeface="Noto Sans" pitchFamily="34" charset="0"/>
                <a:ea typeface="Noto Sans" pitchFamily="34" charset="-122"/>
                <a:cs typeface="Noto Sans" pitchFamily="34" charset="-120"/>
              </a:rPr>
              <a:t>Testing Pyramid</a:t>
            </a:r>
            <a:endParaRPr dirty="0" sz="1046" lang="en-US"/>
          </a:p>
        </p:txBody>
      </p:sp>
      <p:pic>
        <p:nvPicPr>
          <p:cNvPr id="2097235" name="Image 18" descr="preencoded.png"/>
          <p:cNvPicPr>
            <a:picLocks noChangeAspect="1"/>
          </p:cNvPicPr>
          <p:nvPr/>
        </p:nvPicPr>
        <p:blipFill>
          <a:blip xmlns:r="http://schemas.openxmlformats.org/officeDocument/2006/relationships" r:embed="rId19"/>
          <a:stretch>
            <a:fillRect/>
          </a:stretch>
        </p:blipFill>
        <p:spPr>
          <a:xfrm>
            <a:off x="4679156" y="1975247"/>
            <a:ext cx="4179094" cy="2085975"/>
          </a:xfrm>
          <a:prstGeom prst="rec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36" name=""/>
        <p:cNvGrpSpPr/>
        <p:nvPr/>
      </p:nvGrpSpPr>
      <p:grpSpPr>
        <a:xfrm>
          <a:off x="0" y="0"/>
          <a:ext cx="0" cy="0"/>
          <a:chOff x="0" y="0"/>
          <a:chExt cx="0" cy="0"/>
        </a:xfrm>
      </p:grpSpPr>
      <p:pic>
        <p:nvPicPr>
          <p:cNvPr id="2097236" name="Image 0" descr="preencoded.png"/>
          <p:cNvPicPr>
            <a:picLocks noChangeAspect="1"/>
          </p:cNvPicPr>
          <p:nvPr/>
        </p:nvPicPr>
        <p:blipFill>
          <a:blip xmlns:r="http://schemas.openxmlformats.org/officeDocument/2006/relationships" r:embed="rId1"/>
          <a:stretch>
            <a:fillRect/>
          </a:stretch>
        </p:blipFill>
        <p:spPr>
          <a:xfrm>
            <a:off x="0" y="0"/>
            <a:ext cx="9144000" cy="5536406"/>
          </a:xfrm>
          <a:prstGeom prst="rect"/>
        </p:spPr>
      </p:pic>
      <p:sp>
        <p:nvSpPr>
          <p:cNvPr id="1048752" name="Text 0"/>
          <p:cNvSpPr/>
          <p:nvPr/>
        </p:nvSpPr>
        <p:spPr>
          <a:xfrm>
            <a:off x="285750" y="285750"/>
            <a:ext cx="8572500" cy="385763"/>
          </a:xfrm>
          <a:prstGeom prst="rect"/>
          <a:noFill/>
        </p:spPr>
        <p:txBody>
          <a:bodyPr anchor="ctr" bIns="0" lIns="0" rIns="0" rtlCol="0" tIns="0" wrap="none">
            <a:spAutoFit/>
          </a:bodyPr>
          <a:p>
            <a:pPr algn="ctr" indent="0" marL="0">
              <a:buNone/>
            </a:pPr>
            <a:r>
              <a:rPr b="1" dirty="0" sz="2025" lang="en-US">
                <a:solidFill>
                  <a:srgbClr val="0077B6"/>
                </a:solidFill>
                <a:latin typeface="Noto Sans" pitchFamily="34" charset="0"/>
                <a:ea typeface="Noto Sans" pitchFamily="34" charset="-122"/>
                <a:cs typeface="Noto Sans" pitchFamily="34" charset="-120"/>
              </a:rPr>
              <a:t>Implementation Plan</a:t>
            </a:r>
            <a:endParaRPr dirty="0" sz="2025" lang="en-US"/>
          </a:p>
        </p:txBody>
      </p:sp>
      <p:pic>
        <p:nvPicPr>
          <p:cNvPr id="2097237" name="Image 1" descr="preencoded.png"/>
          <p:cNvPicPr>
            <a:picLocks noChangeAspect="1"/>
          </p:cNvPicPr>
          <p:nvPr/>
        </p:nvPicPr>
        <p:blipFill>
          <a:blip xmlns:r="http://schemas.openxmlformats.org/officeDocument/2006/relationships" r:embed="rId2"/>
          <a:stretch>
            <a:fillRect/>
          </a:stretch>
        </p:blipFill>
        <p:spPr>
          <a:xfrm>
            <a:off x="1389752" y="632222"/>
            <a:ext cx="6150183" cy="2561034"/>
          </a:xfrm>
          <a:prstGeom prst="rect"/>
        </p:spPr>
      </p:pic>
      <p:pic>
        <p:nvPicPr>
          <p:cNvPr id="2097238" name="Image 2" descr="preencoded.png"/>
          <p:cNvPicPr>
            <a:picLocks noChangeAspect="1"/>
          </p:cNvPicPr>
          <p:nvPr/>
        </p:nvPicPr>
        <p:blipFill>
          <a:blip xmlns:r="http://schemas.openxmlformats.org/officeDocument/2006/relationships" r:embed="rId3"/>
          <a:stretch>
            <a:fillRect/>
          </a:stretch>
        </p:blipFill>
        <p:spPr>
          <a:xfrm>
            <a:off x="392906" y="3500438"/>
            <a:ext cx="214313" cy="171450"/>
          </a:xfrm>
          <a:prstGeom prst="rect"/>
        </p:spPr>
      </p:pic>
      <p:sp>
        <p:nvSpPr>
          <p:cNvPr id="1048753" name="Text 1"/>
          <p:cNvSpPr/>
          <p:nvPr/>
        </p:nvSpPr>
        <p:spPr>
          <a:xfrm>
            <a:off x="678656" y="3457575"/>
            <a:ext cx="1315371" cy="257175"/>
          </a:xfrm>
          <a:prstGeom prst="rect"/>
          <a:noFill/>
        </p:spPr>
        <p:txBody>
          <a:bodyPr anchor="ctr" bIns="0" lIns="0" rIns="0" rtlCol="0" tIns="0" wrap="none">
            <a:spAutoFit/>
          </a:bodyPr>
          <a:p>
            <a:pPr indent="0" marL="0">
              <a:buNone/>
            </a:pPr>
            <a:r>
              <a:rPr b="1" dirty="0" sz="1350" lang="en-US">
                <a:solidFill>
                  <a:srgbClr val="0077B6"/>
                </a:solidFill>
                <a:latin typeface="Noto Sans" pitchFamily="34" charset="0"/>
                <a:ea typeface="Noto Sans" pitchFamily="34" charset="-122"/>
                <a:cs typeface="Noto Sans" pitchFamily="34" charset="-120"/>
              </a:rPr>
              <a:t> Team Structure </a:t>
            </a:r>
            <a:endParaRPr dirty="0" sz="1350" lang="en-US"/>
          </a:p>
        </p:txBody>
      </p:sp>
      <p:sp>
        <p:nvSpPr>
          <p:cNvPr id="1048754" name="Shape 2"/>
          <p:cNvSpPr/>
          <p:nvPr/>
        </p:nvSpPr>
        <p:spPr>
          <a:xfrm>
            <a:off x="392906" y="3786188"/>
            <a:ext cx="4071938" cy="1464469"/>
          </a:xfrm>
          <a:prstGeom prst="rect"/>
          <a:solidFill>
            <a:srgbClr val="F8F9FA"/>
          </a:solidFill>
        </p:spPr>
      </p:sp>
      <p:pic>
        <p:nvPicPr>
          <p:cNvPr id="2097239" name="Image 3" descr="preencoded.png"/>
          <p:cNvPicPr>
            <a:picLocks noChangeAspect="1"/>
          </p:cNvPicPr>
          <p:nvPr/>
        </p:nvPicPr>
        <p:blipFill>
          <a:blip xmlns:r="http://schemas.openxmlformats.org/officeDocument/2006/relationships" r:embed="rId4"/>
          <a:stretch>
            <a:fillRect/>
          </a:stretch>
        </p:blipFill>
        <p:spPr>
          <a:xfrm>
            <a:off x="500063" y="3925491"/>
            <a:ext cx="112514" cy="128588"/>
          </a:xfrm>
          <a:prstGeom prst="rect"/>
        </p:spPr>
      </p:pic>
      <p:sp>
        <p:nvSpPr>
          <p:cNvPr id="1048755" name="Text 3"/>
          <p:cNvSpPr/>
          <p:nvPr/>
        </p:nvSpPr>
        <p:spPr>
          <a:xfrm>
            <a:off x="684014" y="3893344"/>
            <a:ext cx="1182625"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Project Manager (1) </a:t>
            </a:r>
            <a:endParaRPr dirty="0" sz="942" lang="en-US"/>
          </a:p>
        </p:txBody>
      </p:sp>
      <p:pic>
        <p:nvPicPr>
          <p:cNvPr id="2097240" name="Image 4" descr="preencoded.png"/>
          <p:cNvPicPr>
            <a:picLocks noChangeAspect="1"/>
          </p:cNvPicPr>
          <p:nvPr/>
        </p:nvPicPr>
        <p:blipFill>
          <a:blip xmlns:r="http://schemas.openxmlformats.org/officeDocument/2006/relationships" r:embed="rId5"/>
          <a:stretch>
            <a:fillRect/>
          </a:stretch>
        </p:blipFill>
        <p:spPr>
          <a:xfrm>
            <a:off x="500063" y="4175522"/>
            <a:ext cx="144661" cy="128588"/>
          </a:xfrm>
          <a:prstGeom prst="rect"/>
        </p:spPr>
      </p:pic>
      <p:sp>
        <p:nvSpPr>
          <p:cNvPr id="1048756" name="Text 4"/>
          <p:cNvSpPr/>
          <p:nvPr/>
        </p:nvSpPr>
        <p:spPr>
          <a:xfrm>
            <a:off x="716161" y="4143375"/>
            <a:ext cx="1249626"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Solution Architect (1) </a:t>
            </a:r>
            <a:endParaRPr dirty="0" sz="942" lang="en-US"/>
          </a:p>
        </p:txBody>
      </p:sp>
      <p:pic>
        <p:nvPicPr>
          <p:cNvPr id="2097241" name="Image 5" descr="preencoded.png"/>
          <p:cNvPicPr>
            <a:picLocks noChangeAspect="1"/>
          </p:cNvPicPr>
          <p:nvPr/>
        </p:nvPicPr>
        <p:blipFill>
          <a:blip xmlns:r="http://schemas.openxmlformats.org/officeDocument/2006/relationships" r:embed="rId6"/>
          <a:stretch>
            <a:fillRect/>
          </a:stretch>
        </p:blipFill>
        <p:spPr>
          <a:xfrm>
            <a:off x="500063" y="4425553"/>
            <a:ext cx="160734" cy="128588"/>
          </a:xfrm>
          <a:prstGeom prst="rect"/>
        </p:spPr>
      </p:pic>
      <p:sp>
        <p:nvSpPr>
          <p:cNvPr id="1048757" name="Text 5"/>
          <p:cNvSpPr/>
          <p:nvPr/>
        </p:nvSpPr>
        <p:spPr>
          <a:xfrm>
            <a:off x="732234" y="4393406"/>
            <a:ext cx="1528651"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Backend Developers (3-4) </a:t>
            </a:r>
            <a:endParaRPr dirty="0" sz="942" lang="en-US"/>
          </a:p>
        </p:txBody>
      </p:sp>
      <p:pic>
        <p:nvPicPr>
          <p:cNvPr id="2097242" name="Image 6" descr="preencoded.png"/>
          <p:cNvPicPr>
            <a:picLocks noChangeAspect="1"/>
          </p:cNvPicPr>
          <p:nvPr/>
        </p:nvPicPr>
        <p:blipFill>
          <a:blip xmlns:r="http://schemas.openxmlformats.org/officeDocument/2006/relationships" r:embed="rId7"/>
          <a:stretch>
            <a:fillRect/>
          </a:stretch>
        </p:blipFill>
        <p:spPr>
          <a:xfrm>
            <a:off x="500063" y="4675584"/>
            <a:ext cx="144661" cy="128588"/>
          </a:xfrm>
          <a:prstGeom prst="rect"/>
        </p:spPr>
      </p:pic>
      <p:sp>
        <p:nvSpPr>
          <p:cNvPr id="1048758" name="Text 6"/>
          <p:cNvSpPr/>
          <p:nvPr/>
        </p:nvSpPr>
        <p:spPr>
          <a:xfrm>
            <a:off x="716161" y="4643438"/>
            <a:ext cx="2136874"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Frontend &amp; Mobile Developers (4-5) </a:t>
            </a:r>
            <a:endParaRPr dirty="0" sz="942" lang="en-US"/>
          </a:p>
        </p:txBody>
      </p:sp>
      <p:pic>
        <p:nvPicPr>
          <p:cNvPr id="2097243" name="Image 7" descr="preencoded.png"/>
          <p:cNvPicPr>
            <a:picLocks noChangeAspect="1"/>
          </p:cNvPicPr>
          <p:nvPr/>
        </p:nvPicPr>
        <p:blipFill>
          <a:blip xmlns:r="http://schemas.openxmlformats.org/officeDocument/2006/relationships" r:embed="rId8"/>
          <a:stretch>
            <a:fillRect/>
          </a:stretch>
        </p:blipFill>
        <p:spPr>
          <a:xfrm>
            <a:off x="500063" y="4925616"/>
            <a:ext cx="128588" cy="128588"/>
          </a:xfrm>
          <a:prstGeom prst="rect"/>
        </p:spPr>
      </p:pic>
      <p:sp>
        <p:nvSpPr>
          <p:cNvPr id="1048759" name="Text 7"/>
          <p:cNvSpPr/>
          <p:nvPr/>
        </p:nvSpPr>
        <p:spPr>
          <a:xfrm>
            <a:off x="700088" y="4893469"/>
            <a:ext cx="1936542"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ML Engineers/Data Scientists (2) </a:t>
            </a:r>
            <a:endParaRPr dirty="0" sz="942" lang="en-US"/>
          </a:p>
        </p:txBody>
      </p:sp>
      <p:pic>
        <p:nvPicPr>
          <p:cNvPr id="2097244" name="Image 8" descr="preencoded.png"/>
          <p:cNvPicPr>
            <a:picLocks noChangeAspect="1"/>
          </p:cNvPicPr>
          <p:nvPr/>
        </p:nvPicPr>
        <p:blipFill>
          <a:blip xmlns:r="http://schemas.openxmlformats.org/officeDocument/2006/relationships" r:embed="rId9"/>
          <a:stretch>
            <a:fillRect/>
          </a:stretch>
        </p:blipFill>
        <p:spPr>
          <a:xfrm>
            <a:off x="4679156" y="3500438"/>
            <a:ext cx="171450" cy="171450"/>
          </a:xfrm>
          <a:prstGeom prst="rect"/>
        </p:spPr>
      </p:pic>
      <p:sp>
        <p:nvSpPr>
          <p:cNvPr id="1048760" name="Text 8"/>
          <p:cNvSpPr/>
          <p:nvPr/>
        </p:nvSpPr>
        <p:spPr>
          <a:xfrm>
            <a:off x="4922044" y="3457575"/>
            <a:ext cx="1884750" cy="257175"/>
          </a:xfrm>
          <a:prstGeom prst="rect"/>
          <a:noFill/>
        </p:spPr>
        <p:txBody>
          <a:bodyPr anchor="ctr" bIns="0" lIns="0" rIns="0" rtlCol="0" tIns="0" wrap="none">
            <a:spAutoFit/>
          </a:bodyPr>
          <a:p>
            <a:pPr indent="0" marL="0">
              <a:buNone/>
            </a:pPr>
            <a:r>
              <a:rPr b="1" dirty="0" sz="1350" lang="en-US">
                <a:solidFill>
                  <a:srgbClr val="0077B6"/>
                </a:solidFill>
                <a:latin typeface="Noto Sans" pitchFamily="34" charset="0"/>
                <a:ea typeface="Noto Sans" pitchFamily="34" charset="-122"/>
                <a:cs typeface="Noto Sans" pitchFamily="34" charset="-120"/>
              </a:rPr>
              <a:t> Technology Resources </a:t>
            </a:r>
            <a:endParaRPr dirty="0" sz="1350" lang="en-US"/>
          </a:p>
        </p:txBody>
      </p:sp>
      <p:sp>
        <p:nvSpPr>
          <p:cNvPr id="1048761" name="Shape 9"/>
          <p:cNvSpPr/>
          <p:nvPr/>
        </p:nvSpPr>
        <p:spPr>
          <a:xfrm>
            <a:off x="4679156" y="3786188"/>
            <a:ext cx="4071938" cy="1464469"/>
          </a:xfrm>
          <a:prstGeom prst="rect"/>
          <a:solidFill>
            <a:srgbClr val="F8F9FA"/>
          </a:solidFill>
        </p:spPr>
      </p:sp>
      <p:pic>
        <p:nvPicPr>
          <p:cNvPr id="2097245" name="Image 9" descr="preencoded.png"/>
          <p:cNvPicPr>
            <a:picLocks noChangeAspect="1"/>
          </p:cNvPicPr>
          <p:nvPr/>
        </p:nvPicPr>
        <p:blipFill>
          <a:blip xmlns:r="http://schemas.openxmlformats.org/officeDocument/2006/relationships" r:embed="rId10"/>
          <a:stretch>
            <a:fillRect/>
          </a:stretch>
        </p:blipFill>
        <p:spPr>
          <a:xfrm>
            <a:off x="4786313" y="3925491"/>
            <a:ext cx="160734" cy="128588"/>
          </a:xfrm>
          <a:prstGeom prst="rect"/>
        </p:spPr>
      </p:pic>
      <p:sp>
        <p:nvSpPr>
          <p:cNvPr id="1048762" name="Text 10"/>
          <p:cNvSpPr/>
          <p:nvPr/>
        </p:nvSpPr>
        <p:spPr>
          <a:xfrm>
            <a:off x="5018484" y="3893344"/>
            <a:ext cx="1618534"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Cloud Computing Platform </a:t>
            </a:r>
            <a:endParaRPr dirty="0" sz="942" lang="en-US"/>
          </a:p>
        </p:txBody>
      </p:sp>
      <p:pic>
        <p:nvPicPr>
          <p:cNvPr id="2097246" name="Image 10" descr="preencoded.png"/>
          <p:cNvPicPr>
            <a:picLocks noChangeAspect="1"/>
          </p:cNvPicPr>
          <p:nvPr/>
        </p:nvPicPr>
        <p:blipFill>
          <a:blip xmlns:r="http://schemas.openxmlformats.org/officeDocument/2006/relationships" r:embed="rId11"/>
          <a:stretch>
            <a:fillRect/>
          </a:stretch>
        </p:blipFill>
        <p:spPr>
          <a:xfrm>
            <a:off x="4786313" y="4175522"/>
            <a:ext cx="112514" cy="128588"/>
          </a:xfrm>
          <a:prstGeom prst="rect"/>
        </p:spPr>
      </p:pic>
      <p:sp>
        <p:nvSpPr>
          <p:cNvPr id="1048763" name="Text 11"/>
          <p:cNvSpPr/>
          <p:nvPr/>
        </p:nvSpPr>
        <p:spPr>
          <a:xfrm>
            <a:off x="4970264" y="4143375"/>
            <a:ext cx="1156646"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Development Tools </a:t>
            </a:r>
            <a:endParaRPr dirty="0" sz="942" lang="en-US"/>
          </a:p>
        </p:txBody>
      </p:sp>
      <p:pic>
        <p:nvPicPr>
          <p:cNvPr id="2097247" name="Image 11" descr="preencoded.png"/>
          <p:cNvPicPr>
            <a:picLocks noChangeAspect="1"/>
          </p:cNvPicPr>
          <p:nvPr/>
        </p:nvPicPr>
        <p:blipFill>
          <a:blip xmlns:r="http://schemas.openxmlformats.org/officeDocument/2006/relationships" r:embed="rId12"/>
          <a:stretch>
            <a:fillRect/>
          </a:stretch>
        </p:blipFill>
        <p:spPr>
          <a:xfrm>
            <a:off x="4786313" y="4425553"/>
            <a:ext cx="112514" cy="128588"/>
          </a:xfrm>
          <a:prstGeom prst="rect"/>
        </p:spPr>
      </p:pic>
      <p:sp>
        <p:nvSpPr>
          <p:cNvPr id="1048764" name="Text 12"/>
          <p:cNvSpPr/>
          <p:nvPr/>
        </p:nvSpPr>
        <p:spPr>
          <a:xfrm>
            <a:off x="4970264" y="4393406"/>
            <a:ext cx="1101868"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Database Systems </a:t>
            </a:r>
            <a:endParaRPr dirty="0" sz="942" lang="en-US"/>
          </a:p>
        </p:txBody>
      </p:sp>
      <p:pic>
        <p:nvPicPr>
          <p:cNvPr id="2097248" name="Image 12" descr="preencoded.png"/>
          <p:cNvPicPr>
            <a:picLocks noChangeAspect="1"/>
          </p:cNvPicPr>
          <p:nvPr/>
        </p:nvPicPr>
        <p:blipFill>
          <a:blip xmlns:r="http://schemas.openxmlformats.org/officeDocument/2006/relationships" r:embed="rId13"/>
          <a:stretch>
            <a:fillRect/>
          </a:stretch>
        </p:blipFill>
        <p:spPr>
          <a:xfrm>
            <a:off x="4786313" y="4675584"/>
            <a:ext cx="128588" cy="128588"/>
          </a:xfrm>
          <a:prstGeom prst="rect"/>
        </p:spPr>
      </p:pic>
      <p:sp>
        <p:nvSpPr>
          <p:cNvPr id="1048765" name="Text 13"/>
          <p:cNvSpPr/>
          <p:nvPr/>
        </p:nvSpPr>
        <p:spPr>
          <a:xfrm>
            <a:off x="4986338" y="4643438"/>
            <a:ext cx="959272"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ML Frameworks </a:t>
            </a:r>
            <a:endParaRPr dirty="0" sz="942" lang="en-US"/>
          </a:p>
        </p:txBody>
      </p:sp>
      <p:pic>
        <p:nvPicPr>
          <p:cNvPr id="2097249" name="Image 13" descr="preencoded.png"/>
          <p:cNvPicPr>
            <a:picLocks noChangeAspect="1"/>
          </p:cNvPicPr>
          <p:nvPr/>
        </p:nvPicPr>
        <p:blipFill>
          <a:blip xmlns:r="http://schemas.openxmlformats.org/officeDocument/2006/relationships" r:embed="rId14"/>
          <a:stretch>
            <a:fillRect/>
          </a:stretch>
        </p:blipFill>
        <p:spPr>
          <a:xfrm>
            <a:off x="4786313" y="4925616"/>
            <a:ext cx="160734" cy="128588"/>
          </a:xfrm>
          <a:prstGeom prst="rect"/>
        </p:spPr>
      </p:pic>
      <p:sp>
        <p:nvSpPr>
          <p:cNvPr id="1048766" name="Text 14"/>
          <p:cNvSpPr/>
          <p:nvPr/>
        </p:nvSpPr>
        <p:spPr>
          <a:xfrm>
            <a:off x="5018484" y="4893469"/>
            <a:ext cx="1991181" cy="192881"/>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Containerization &amp; Orchestration </a:t>
            </a:r>
            <a:endParaRPr dirty="0" sz="942"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39" name=""/>
        <p:cNvGrpSpPr/>
        <p:nvPr/>
      </p:nvGrpSpPr>
      <p:grpSpPr>
        <a:xfrm>
          <a:off x="0" y="0"/>
          <a:ext cx="0" cy="0"/>
          <a:chOff x="0" y="0"/>
          <a:chExt cx="0" cy="0"/>
        </a:xfrm>
      </p:grpSpPr>
      <p:pic>
        <p:nvPicPr>
          <p:cNvPr id="2097250" name="Image 0" descr="preencoded.png"/>
          <p:cNvPicPr>
            <a:picLocks noChangeAspect="1"/>
          </p:cNvPicPr>
          <p:nvPr/>
        </p:nvPicPr>
        <p:blipFill>
          <a:blip xmlns:r="http://schemas.openxmlformats.org/officeDocument/2006/relationships" r:embed="rId1"/>
          <a:stretch>
            <a:fillRect/>
          </a:stretch>
        </p:blipFill>
        <p:spPr>
          <a:xfrm>
            <a:off x="0" y="0"/>
            <a:ext cx="9144000" cy="5657850"/>
          </a:xfrm>
          <a:prstGeom prst="rect"/>
        </p:spPr>
      </p:pic>
      <p:sp>
        <p:nvSpPr>
          <p:cNvPr id="1048770" name="Text 0"/>
          <p:cNvSpPr/>
          <p:nvPr/>
        </p:nvSpPr>
        <p:spPr>
          <a:xfrm>
            <a:off x="285750" y="285750"/>
            <a:ext cx="8572500" cy="385763"/>
          </a:xfrm>
          <a:prstGeom prst="rect"/>
          <a:noFill/>
        </p:spPr>
        <p:txBody>
          <a:bodyPr anchor="ctr" bIns="0" lIns="0" rIns="0" rtlCol="0" tIns="0" wrap="none">
            <a:spAutoFit/>
          </a:bodyPr>
          <a:p>
            <a:pPr algn="ctr" indent="0" marL="0">
              <a:buNone/>
            </a:pPr>
            <a:r>
              <a:rPr b="1" dirty="0" sz="2025" lang="en-US">
                <a:solidFill>
                  <a:srgbClr val="0077B6"/>
                </a:solidFill>
                <a:latin typeface="Noto Sans" pitchFamily="34" charset="0"/>
                <a:ea typeface="Noto Sans" pitchFamily="34" charset="-122"/>
                <a:cs typeface="Noto Sans" pitchFamily="34" charset="-120"/>
              </a:rPr>
              <a:t>Expected Impact</a:t>
            </a:r>
            <a:endParaRPr dirty="0" sz="2025" lang="en-US"/>
          </a:p>
        </p:txBody>
      </p:sp>
      <p:pic>
        <p:nvPicPr>
          <p:cNvPr id="2097251" name="Image 1" descr="preencoded.png"/>
          <p:cNvPicPr>
            <a:picLocks noChangeAspect="1"/>
          </p:cNvPicPr>
          <p:nvPr/>
        </p:nvPicPr>
        <p:blipFill>
          <a:blip xmlns:r="http://schemas.openxmlformats.org/officeDocument/2006/relationships" r:embed="rId2"/>
          <a:stretch>
            <a:fillRect/>
          </a:stretch>
        </p:blipFill>
        <p:spPr>
          <a:xfrm>
            <a:off x="285750" y="928688"/>
            <a:ext cx="192881" cy="171450"/>
          </a:xfrm>
          <a:prstGeom prst="rect"/>
        </p:spPr>
      </p:pic>
      <p:sp>
        <p:nvSpPr>
          <p:cNvPr id="1048771" name="Text 1"/>
          <p:cNvSpPr/>
          <p:nvPr/>
        </p:nvSpPr>
        <p:spPr>
          <a:xfrm>
            <a:off x="550069" y="885825"/>
            <a:ext cx="1860082" cy="257175"/>
          </a:xfrm>
          <a:prstGeom prst="rect"/>
          <a:noFill/>
        </p:spPr>
        <p:txBody>
          <a:bodyPr anchor="ctr" bIns="0" lIns="0" rIns="0" rtlCol="0" tIns="0" wrap="none">
            <a:spAutoFit/>
          </a:bodyPr>
          <a:p>
            <a:pPr indent="0" marL="0">
              <a:buNone/>
            </a:pPr>
            <a:r>
              <a:rPr b="1" dirty="0" sz="1350" lang="en-US">
                <a:solidFill>
                  <a:srgbClr val="0077B6"/>
                </a:solidFill>
                <a:latin typeface="Noto Sans" pitchFamily="34" charset="0"/>
                <a:ea typeface="Noto Sans" pitchFamily="34" charset="-122"/>
                <a:cs typeface="Noto Sans" pitchFamily="34" charset="-120"/>
              </a:rPr>
              <a:t> Healthcare Outcomes </a:t>
            </a:r>
            <a:endParaRPr dirty="0" sz="1350" lang="en-US"/>
          </a:p>
        </p:txBody>
      </p:sp>
      <p:sp>
        <p:nvSpPr>
          <p:cNvPr id="1048772" name="Text 2"/>
          <p:cNvSpPr/>
          <p:nvPr/>
        </p:nvSpPr>
        <p:spPr>
          <a:xfrm>
            <a:off x="285750" y="1259086"/>
            <a:ext cx="2238338" cy="175022"/>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Improved patient outcomes through </a:t>
            </a:r>
            <a:endParaRPr dirty="0" sz="942" lang="en-US"/>
          </a:p>
        </p:txBody>
      </p:sp>
      <p:sp>
        <p:nvSpPr>
          <p:cNvPr id="1048773" name="Text 3"/>
          <p:cNvSpPr/>
          <p:nvPr/>
        </p:nvSpPr>
        <p:spPr>
          <a:xfrm>
            <a:off x="2524088" y="1259086"/>
            <a:ext cx="1753567" cy="175022"/>
          </a:xfrm>
          <a:prstGeom prst="rect"/>
          <a:noFill/>
        </p:spPr>
        <p:txBody>
          <a:bodyPr anchor="ctr" bIns="0" lIns="0" rIns="0" rtlCol="0" tIns="0" wrap="none">
            <a:spAutoFit/>
          </a:bodyPr>
          <a:p>
            <a:pPr indent="0" marL="0">
              <a:buNone/>
            </a:pPr>
            <a:r>
              <a:rPr b="1" dirty="0" sz="942" lang="en-US">
                <a:solidFill>
                  <a:srgbClr val="E63946"/>
                </a:solidFill>
                <a:latin typeface="Noto Sans" pitchFamily="34" charset="0"/>
                <a:ea typeface="Noto Sans" pitchFamily="34" charset="-122"/>
                <a:cs typeface="Noto Sans" pitchFamily="34" charset="-120"/>
              </a:rPr>
              <a:t>faster access to compatible </a:t>
            </a:r>
            <a:endParaRPr dirty="0" sz="942" lang="en-US"/>
          </a:p>
        </p:txBody>
      </p:sp>
      <p:sp>
        <p:nvSpPr>
          <p:cNvPr id="1048774" name="Text 4"/>
          <p:cNvSpPr/>
          <p:nvPr/>
        </p:nvSpPr>
        <p:spPr>
          <a:xfrm>
            <a:off x="285750" y="1451967"/>
            <a:ext cx="361206" cy="175022"/>
          </a:xfrm>
          <a:prstGeom prst="rect"/>
          <a:noFill/>
        </p:spPr>
        <p:txBody>
          <a:bodyPr anchor="ctr" bIns="0" lIns="0" rIns="0" rtlCol="0" tIns="0" wrap="none">
            <a:spAutoFit/>
          </a:bodyPr>
          <a:p>
            <a:pPr indent="0" marL="0">
              <a:buNone/>
            </a:pPr>
            <a:r>
              <a:rPr b="1" dirty="0" sz="942" lang="en-US">
                <a:solidFill>
                  <a:srgbClr val="E63946"/>
                </a:solidFill>
                <a:latin typeface="Noto Sans" pitchFamily="34" charset="0"/>
                <a:ea typeface="Noto Sans" pitchFamily="34" charset="-122"/>
                <a:cs typeface="Noto Sans" pitchFamily="34" charset="-120"/>
              </a:rPr>
              <a:t>blood</a:t>
            </a:r>
            <a:endParaRPr dirty="0" sz="942" lang="en-US"/>
          </a:p>
        </p:txBody>
      </p:sp>
      <p:sp>
        <p:nvSpPr>
          <p:cNvPr id="1048775" name="Text 5"/>
          <p:cNvSpPr/>
          <p:nvPr/>
        </p:nvSpPr>
        <p:spPr>
          <a:xfrm>
            <a:off x="646956" y="1451967"/>
            <a:ext cx="3720833" cy="175022"/>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during emergencies, surgeries, and critical care. Reduction in </a:t>
            </a:r>
            <a:endParaRPr dirty="0" sz="942" lang="en-US"/>
          </a:p>
        </p:txBody>
      </p:sp>
      <p:sp>
        <p:nvSpPr>
          <p:cNvPr id="1048776" name="Text 6"/>
          <p:cNvSpPr/>
          <p:nvPr/>
        </p:nvSpPr>
        <p:spPr>
          <a:xfrm>
            <a:off x="285750" y="1644848"/>
            <a:ext cx="3787053" cy="175022"/>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morbidity and mortality rates associated with blood shortages. </a:t>
            </a:r>
            <a:endParaRPr dirty="0" sz="942" lang="en-US"/>
          </a:p>
        </p:txBody>
      </p:sp>
      <p:pic>
        <p:nvPicPr>
          <p:cNvPr id="2097252" name="Image 2" descr="preencoded.png"/>
          <p:cNvPicPr>
            <a:picLocks noChangeAspect="1"/>
          </p:cNvPicPr>
          <p:nvPr/>
        </p:nvPicPr>
        <p:blipFill>
          <a:blip xmlns:r="http://schemas.openxmlformats.org/officeDocument/2006/relationships" r:embed="rId3"/>
          <a:stretch>
            <a:fillRect/>
          </a:stretch>
        </p:blipFill>
        <p:spPr>
          <a:xfrm>
            <a:off x="285750" y="2050256"/>
            <a:ext cx="171450" cy="171450"/>
          </a:xfrm>
          <a:prstGeom prst="rect"/>
        </p:spPr>
      </p:pic>
      <p:sp>
        <p:nvSpPr>
          <p:cNvPr id="1048777" name="Text 7"/>
          <p:cNvSpPr/>
          <p:nvPr/>
        </p:nvSpPr>
        <p:spPr>
          <a:xfrm>
            <a:off x="528638" y="2007394"/>
            <a:ext cx="1891280" cy="257175"/>
          </a:xfrm>
          <a:prstGeom prst="rect"/>
          <a:noFill/>
        </p:spPr>
        <p:txBody>
          <a:bodyPr anchor="ctr" bIns="0" lIns="0" rIns="0" rtlCol="0" tIns="0" wrap="none">
            <a:spAutoFit/>
          </a:bodyPr>
          <a:p>
            <a:pPr indent="0" marL="0">
              <a:buNone/>
            </a:pPr>
            <a:r>
              <a:rPr b="1" dirty="0" sz="1350" lang="en-US">
                <a:solidFill>
                  <a:srgbClr val="0077B6"/>
                </a:solidFill>
                <a:latin typeface="Noto Sans" pitchFamily="34" charset="0"/>
                <a:ea typeface="Noto Sans" pitchFamily="34" charset="-122"/>
                <a:cs typeface="Noto Sans" pitchFamily="34" charset="-120"/>
              </a:rPr>
              <a:t> Operational Efficiency </a:t>
            </a:r>
            <a:endParaRPr dirty="0" sz="1350" lang="en-US"/>
          </a:p>
        </p:txBody>
      </p:sp>
      <p:sp>
        <p:nvSpPr>
          <p:cNvPr id="1048778" name="Text 8"/>
          <p:cNvSpPr/>
          <p:nvPr/>
        </p:nvSpPr>
        <p:spPr>
          <a:xfrm>
            <a:off x="285750" y="2380655"/>
            <a:ext cx="1126173" cy="175022"/>
          </a:xfrm>
          <a:prstGeom prst="rect"/>
          <a:noFill/>
        </p:spPr>
        <p:txBody>
          <a:bodyPr anchor="ctr" bIns="0" lIns="0" rIns="0" rtlCol="0" tIns="0" wrap="none">
            <a:spAutoFit/>
          </a:bodyPr>
          <a:p>
            <a:pPr indent="0" marL="0">
              <a:buNone/>
            </a:pPr>
            <a:r>
              <a:rPr b="1" dirty="0" sz="942" lang="en-US">
                <a:solidFill>
                  <a:srgbClr val="E63946"/>
                </a:solidFill>
                <a:latin typeface="Noto Sans" pitchFamily="34" charset="0"/>
                <a:ea typeface="Noto Sans" pitchFamily="34" charset="-122"/>
                <a:cs typeface="Noto Sans" pitchFamily="34" charset="-120"/>
              </a:rPr>
              <a:t>Reduced wastage</a:t>
            </a:r>
            <a:endParaRPr dirty="0" sz="942" lang="en-US"/>
          </a:p>
        </p:txBody>
      </p:sp>
      <p:sp>
        <p:nvSpPr>
          <p:cNvPr id="1048779" name="Text 9"/>
          <p:cNvSpPr/>
          <p:nvPr/>
        </p:nvSpPr>
        <p:spPr>
          <a:xfrm>
            <a:off x="1411923" y="2380655"/>
            <a:ext cx="2404849" cy="175022"/>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of blood units through better inventory </a:t>
            </a:r>
            <a:endParaRPr dirty="0" sz="942" lang="en-US"/>
          </a:p>
        </p:txBody>
      </p:sp>
      <p:sp>
        <p:nvSpPr>
          <p:cNvPr id="1048780" name="Text 10"/>
          <p:cNvSpPr/>
          <p:nvPr/>
        </p:nvSpPr>
        <p:spPr>
          <a:xfrm>
            <a:off x="285750" y="2573536"/>
            <a:ext cx="2394300" cy="175022"/>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management and demand forecasting. </a:t>
            </a:r>
            <a:endParaRPr dirty="0" sz="942" lang="en-US"/>
          </a:p>
        </p:txBody>
      </p:sp>
      <p:sp>
        <p:nvSpPr>
          <p:cNvPr id="1048781" name="Text 11"/>
          <p:cNvSpPr/>
          <p:nvPr/>
        </p:nvSpPr>
        <p:spPr>
          <a:xfrm>
            <a:off x="2680050" y="2573536"/>
            <a:ext cx="1255542" cy="175022"/>
          </a:xfrm>
          <a:prstGeom prst="rect"/>
          <a:noFill/>
        </p:spPr>
        <p:txBody>
          <a:bodyPr anchor="ctr" bIns="0" lIns="0" rIns="0" rtlCol="0" tIns="0" wrap="none">
            <a:spAutoFit/>
          </a:bodyPr>
          <a:p>
            <a:pPr indent="0" marL="0">
              <a:buNone/>
            </a:pPr>
            <a:r>
              <a:rPr b="1" dirty="0" sz="942" lang="en-US">
                <a:solidFill>
                  <a:srgbClr val="E63946"/>
                </a:solidFill>
                <a:latin typeface="Noto Sans" pitchFamily="34" charset="0"/>
                <a:ea typeface="Noto Sans" pitchFamily="34" charset="-122"/>
                <a:cs typeface="Noto Sans" pitchFamily="34" charset="-120"/>
              </a:rPr>
              <a:t>Optimized resource </a:t>
            </a:r>
            <a:endParaRPr dirty="0" sz="942" lang="en-US"/>
          </a:p>
        </p:txBody>
      </p:sp>
      <p:sp>
        <p:nvSpPr>
          <p:cNvPr id="1048782" name="Text 12"/>
          <p:cNvSpPr/>
          <p:nvPr/>
        </p:nvSpPr>
        <p:spPr>
          <a:xfrm>
            <a:off x="285750" y="2766417"/>
            <a:ext cx="638584" cy="175022"/>
          </a:xfrm>
          <a:prstGeom prst="rect"/>
          <a:noFill/>
        </p:spPr>
        <p:txBody>
          <a:bodyPr anchor="ctr" bIns="0" lIns="0" rIns="0" rtlCol="0" tIns="0" wrap="none">
            <a:spAutoFit/>
          </a:bodyPr>
          <a:p>
            <a:pPr indent="0" marL="0">
              <a:buNone/>
            </a:pPr>
            <a:r>
              <a:rPr b="1" dirty="0" sz="942" lang="en-US">
                <a:solidFill>
                  <a:srgbClr val="E63946"/>
                </a:solidFill>
                <a:latin typeface="Noto Sans" pitchFamily="34" charset="0"/>
                <a:ea typeface="Noto Sans" pitchFamily="34" charset="-122"/>
                <a:cs typeface="Noto Sans" pitchFamily="34" charset="-120"/>
              </a:rPr>
              <a:t>allocation</a:t>
            </a:r>
            <a:endParaRPr dirty="0" sz="942" lang="en-US"/>
          </a:p>
        </p:txBody>
      </p:sp>
      <p:sp>
        <p:nvSpPr>
          <p:cNvPr id="1048783" name="Text 13"/>
          <p:cNvSpPr/>
          <p:nvPr/>
        </p:nvSpPr>
        <p:spPr>
          <a:xfrm>
            <a:off x="924334" y="2766417"/>
            <a:ext cx="2070013" cy="175022"/>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across blood banks and hospitals. </a:t>
            </a:r>
            <a:endParaRPr dirty="0" sz="942" lang="en-US"/>
          </a:p>
        </p:txBody>
      </p:sp>
      <p:pic>
        <p:nvPicPr>
          <p:cNvPr id="2097253" name="Image 3" descr="preencoded.png"/>
          <p:cNvPicPr>
            <a:picLocks noChangeAspect="1"/>
          </p:cNvPicPr>
          <p:nvPr/>
        </p:nvPicPr>
        <p:blipFill>
          <a:blip xmlns:r="http://schemas.openxmlformats.org/officeDocument/2006/relationships" r:embed="rId4"/>
          <a:stretch>
            <a:fillRect/>
          </a:stretch>
        </p:blipFill>
        <p:spPr>
          <a:xfrm>
            <a:off x="285750" y="3171825"/>
            <a:ext cx="214313" cy="171450"/>
          </a:xfrm>
          <a:prstGeom prst="rect"/>
        </p:spPr>
      </p:pic>
      <p:sp>
        <p:nvSpPr>
          <p:cNvPr id="1048784" name="Text 14"/>
          <p:cNvSpPr/>
          <p:nvPr/>
        </p:nvSpPr>
        <p:spPr>
          <a:xfrm>
            <a:off x="571500" y="3128963"/>
            <a:ext cx="1661536" cy="257175"/>
          </a:xfrm>
          <a:prstGeom prst="rect"/>
          <a:noFill/>
        </p:spPr>
        <p:txBody>
          <a:bodyPr anchor="ctr" bIns="0" lIns="0" rIns="0" rtlCol="0" tIns="0" wrap="none">
            <a:spAutoFit/>
          </a:bodyPr>
          <a:p>
            <a:pPr indent="0" marL="0">
              <a:buNone/>
            </a:pPr>
            <a:r>
              <a:rPr b="1" dirty="0" sz="1350" lang="en-US">
                <a:solidFill>
                  <a:srgbClr val="0077B6"/>
                </a:solidFill>
                <a:latin typeface="Noto Sans" pitchFamily="34" charset="0"/>
                <a:ea typeface="Noto Sans" pitchFamily="34" charset="-122"/>
                <a:cs typeface="Noto Sans" pitchFamily="34" charset="-120"/>
              </a:rPr>
              <a:t> Donor Engagement </a:t>
            </a:r>
            <a:endParaRPr dirty="0" sz="1350" lang="en-US"/>
          </a:p>
        </p:txBody>
      </p:sp>
      <p:sp>
        <p:nvSpPr>
          <p:cNvPr id="1048785" name="Text 15"/>
          <p:cNvSpPr/>
          <p:nvPr/>
        </p:nvSpPr>
        <p:spPr>
          <a:xfrm>
            <a:off x="285750" y="3502223"/>
            <a:ext cx="1917650" cy="175022"/>
          </a:xfrm>
          <a:prstGeom prst="rect"/>
          <a:noFill/>
        </p:spPr>
        <p:txBody>
          <a:bodyPr anchor="ctr" bIns="0" lIns="0" rIns="0" rtlCol="0" tIns="0" wrap="none">
            <a:spAutoFit/>
          </a:bodyPr>
          <a:p>
            <a:pPr indent="0" marL="0">
              <a:buNone/>
            </a:pPr>
            <a:r>
              <a:rPr b="1" dirty="0" sz="942" lang="en-US">
                <a:solidFill>
                  <a:srgbClr val="E63946"/>
                </a:solidFill>
                <a:latin typeface="Noto Sans" pitchFamily="34" charset="0"/>
                <a:ea typeface="Noto Sans" pitchFamily="34" charset="-122"/>
                <a:cs typeface="Noto Sans" pitchFamily="34" charset="-120"/>
              </a:rPr>
              <a:t>Increased donor participation</a:t>
            </a:r>
            <a:endParaRPr dirty="0" sz="942" lang="en-US"/>
          </a:p>
        </p:txBody>
      </p:sp>
      <p:sp>
        <p:nvSpPr>
          <p:cNvPr id="1048786" name="Text 16"/>
          <p:cNvSpPr/>
          <p:nvPr/>
        </p:nvSpPr>
        <p:spPr>
          <a:xfrm>
            <a:off x="2203400" y="3502223"/>
            <a:ext cx="2126075" cy="175022"/>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through targeted, timely outreach. </a:t>
            </a:r>
            <a:endParaRPr dirty="0" sz="942" lang="en-US"/>
          </a:p>
        </p:txBody>
      </p:sp>
      <p:sp>
        <p:nvSpPr>
          <p:cNvPr id="1048787" name="Text 17"/>
          <p:cNvSpPr/>
          <p:nvPr/>
        </p:nvSpPr>
        <p:spPr>
          <a:xfrm>
            <a:off x="285750" y="3695105"/>
            <a:ext cx="4156351" cy="175022"/>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Enhanced donor experience with convenient routing and meaningful </a:t>
            </a:r>
            <a:endParaRPr dirty="0" sz="942" lang="en-US"/>
          </a:p>
        </p:txBody>
      </p:sp>
      <p:sp>
        <p:nvSpPr>
          <p:cNvPr id="1048788" name="Text 18"/>
          <p:cNvSpPr/>
          <p:nvPr/>
        </p:nvSpPr>
        <p:spPr>
          <a:xfrm>
            <a:off x="285750" y="3887986"/>
            <a:ext cx="971885" cy="175022"/>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impact tracking. </a:t>
            </a:r>
            <a:endParaRPr dirty="0" sz="942" lang="en-US"/>
          </a:p>
        </p:txBody>
      </p:sp>
      <p:pic>
        <p:nvPicPr>
          <p:cNvPr id="2097254" name="Image 4" descr="preencoded.png"/>
          <p:cNvPicPr>
            <a:picLocks noChangeAspect="1"/>
          </p:cNvPicPr>
          <p:nvPr/>
        </p:nvPicPr>
        <p:blipFill>
          <a:blip xmlns:r="http://schemas.openxmlformats.org/officeDocument/2006/relationships" r:embed="rId5"/>
          <a:stretch>
            <a:fillRect/>
          </a:stretch>
        </p:blipFill>
        <p:spPr>
          <a:xfrm>
            <a:off x="285750" y="4293394"/>
            <a:ext cx="171450" cy="171450"/>
          </a:xfrm>
          <a:prstGeom prst="rect"/>
        </p:spPr>
      </p:pic>
      <p:sp>
        <p:nvSpPr>
          <p:cNvPr id="1048789" name="Text 19"/>
          <p:cNvSpPr/>
          <p:nvPr/>
        </p:nvSpPr>
        <p:spPr>
          <a:xfrm>
            <a:off x="528638" y="4250531"/>
            <a:ext cx="1982670" cy="257175"/>
          </a:xfrm>
          <a:prstGeom prst="rect"/>
          <a:noFill/>
        </p:spPr>
        <p:txBody>
          <a:bodyPr anchor="ctr" bIns="0" lIns="0" rIns="0" rtlCol="0" tIns="0" wrap="none">
            <a:spAutoFit/>
          </a:bodyPr>
          <a:p>
            <a:pPr indent="0" marL="0">
              <a:buNone/>
            </a:pPr>
            <a:r>
              <a:rPr b="1" dirty="0" sz="1350" lang="en-US">
                <a:solidFill>
                  <a:srgbClr val="0077B6"/>
                </a:solidFill>
                <a:latin typeface="Noto Sans" pitchFamily="34" charset="0"/>
                <a:ea typeface="Noto Sans" pitchFamily="34" charset="-122"/>
                <a:cs typeface="Noto Sans" pitchFamily="34" charset="-120"/>
              </a:rPr>
              <a:t> Systemic Improvement </a:t>
            </a:r>
            <a:endParaRPr dirty="0" sz="1350" lang="en-US"/>
          </a:p>
        </p:txBody>
      </p:sp>
      <p:sp>
        <p:nvSpPr>
          <p:cNvPr id="1048790" name="Text 20"/>
          <p:cNvSpPr/>
          <p:nvPr/>
        </p:nvSpPr>
        <p:spPr>
          <a:xfrm>
            <a:off x="285750" y="4623792"/>
            <a:ext cx="807802" cy="175022"/>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Creation of a </a:t>
            </a:r>
            <a:endParaRPr dirty="0" sz="942" lang="en-US"/>
          </a:p>
        </p:txBody>
      </p:sp>
      <p:sp>
        <p:nvSpPr>
          <p:cNvPr id="1048791" name="Text 21"/>
          <p:cNvSpPr/>
          <p:nvPr/>
        </p:nvSpPr>
        <p:spPr>
          <a:xfrm>
            <a:off x="1093552" y="4623792"/>
            <a:ext cx="2020370" cy="175022"/>
          </a:xfrm>
          <a:prstGeom prst="rect"/>
          <a:noFill/>
        </p:spPr>
        <p:txBody>
          <a:bodyPr anchor="ctr" bIns="0" lIns="0" rIns="0" rtlCol="0" tIns="0" wrap="none">
            <a:spAutoFit/>
          </a:bodyPr>
          <a:p>
            <a:pPr indent="0" marL="0">
              <a:buNone/>
            </a:pPr>
            <a:r>
              <a:rPr b="1" dirty="0" sz="942" lang="en-US">
                <a:solidFill>
                  <a:srgbClr val="E63946"/>
                </a:solidFill>
                <a:latin typeface="Noto Sans" pitchFamily="34" charset="0"/>
                <a:ea typeface="Noto Sans" pitchFamily="34" charset="-122"/>
                <a:cs typeface="Noto Sans" pitchFamily="34" charset="-120"/>
              </a:rPr>
              <a:t>unified blood supply ecosystem</a:t>
            </a:r>
            <a:endParaRPr dirty="0" sz="942" lang="en-US"/>
          </a:p>
        </p:txBody>
      </p:sp>
      <p:sp>
        <p:nvSpPr>
          <p:cNvPr id="1048792" name="Text 22"/>
          <p:cNvSpPr/>
          <p:nvPr/>
        </p:nvSpPr>
        <p:spPr>
          <a:xfrm>
            <a:off x="3113922" y="4623792"/>
            <a:ext cx="1023956" cy="175022"/>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 that connects all </a:t>
            </a:r>
            <a:endParaRPr dirty="0" sz="942" lang="en-US"/>
          </a:p>
        </p:txBody>
      </p:sp>
      <p:sp>
        <p:nvSpPr>
          <p:cNvPr id="1048793" name="Text 23"/>
          <p:cNvSpPr/>
          <p:nvPr/>
        </p:nvSpPr>
        <p:spPr>
          <a:xfrm>
            <a:off x="285750" y="4816673"/>
            <a:ext cx="4155318" cy="175022"/>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stakeholders through intelligent, data-driven processes. Potential for </a:t>
            </a:r>
            <a:endParaRPr dirty="0" sz="942" lang="en-US"/>
          </a:p>
        </p:txBody>
      </p:sp>
      <p:sp>
        <p:nvSpPr>
          <p:cNvPr id="1048794" name="Text 24"/>
          <p:cNvSpPr/>
          <p:nvPr/>
        </p:nvSpPr>
        <p:spPr>
          <a:xfrm>
            <a:off x="285750" y="5009555"/>
            <a:ext cx="1777482" cy="175022"/>
          </a:xfrm>
          <a:prstGeom prst="rect"/>
          <a:noFill/>
        </p:spPr>
        <p:txBody>
          <a:bodyPr anchor="ctr" bIns="0" lIns="0" rIns="0" rtlCol="0" tIns="0" wrap="none">
            <a:spAutoFit/>
          </a:bodyPr>
          <a:p>
            <a:pPr indent="0" marL="0">
              <a:buNone/>
            </a:pPr>
            <a:r>
              <a:rPr dirty="0" sz="942" lang="en-US">
                <a:solidFill>
                  <a:srgbClr val="333333"/>
                </a:solidFill>
                <a:latin typeface="Noto Sans" pitchFamily="34" charset="0"/>
                <a:ea typeface="Noto Sans" pitchFamily="34" charset="-122"/>
                <a:cs typeface="Noto Sans" pitchFamily="34" charset="-120"/>
              </a:rPr>
              <a:t>regional and national scaling. </a:t>
            </a:r>
            <a:endParaRPr dirty="0" sz="942" lang="en-US"/>
          </a:p>
        </p:txBody>
      </p:sp>
      <p:sp>
        <p:nvSpPr>
          <p:cNvPr id="1048795" name="Text 25"/>
          <p:cNvSpPr/>
          <p:nvPr/>
        </p:nvSpPr>
        <p:spPr>
          <a:xfrm>
            <a:off x="5871214" y="1539478"/>
            <a:ext cx="1794951" cy="214313"/>
          </a:xfrm>
          <a:prstGeom prst="rect"/>
          <a:noFill/>
        </p:spPr>
        <p:txBody>
          <a:bodyPr anchor="ctr" bIns="0" lIns="0" rIns="0" rtlCol="0" tIns="0" wrap="none">
            <a:spAutoFit/>
          </a:bodyPr>
          <a:p>
            <a:pPr algn="ctr" indent="0" marL="0">
              <a:buNone/>
            </a:pPr>
            <a:r>
              <a:rPr b="1" dirty="0" sz="1046" lang="en-US">
                <a:solidFill>
                  <a:srgbClr val="0077B6"/>
                </a:solidFill>
                <a:latin typeface="Noto Sans" pitchFamily="34" charset="0"/>
                <a:ea typeface="Noto Sans" pitchFamily="34" charset="-122"/>
                <a:cs typeface="Noto Sans" pitchFamily="34" charset="-120"/>
              </a:rPr>
              <a:t>Projected Impact Metrics</a:t>
            </a:r>
            <a:endParaRPr dirty="0" sz="1046" lang="en-US"/>
          </a:p>
        </p:txBody>
      </p:sp>
      <p:pic>
        <p:nvPicPr>
          <p:cNvPr id="2097255" name="Image 5" descr="preencoded.png"/>
          <p:cNvPicPr>
            <a:picLocks noChangeAspect="1"/>
          </p:cNvPicPr>
          <p:nvPr/>
        </p:nvPicPr>
        <p:blipFill>
          <a:blip xmlns:r="http://schemas.openxmlformats.org/officeDocument/2006/relationships" r:embed="rId6"/>
          <a:stretch>
            <a:fillRect/>
          </a:stretch>
        </p:blipFill>
        <p:spPr>
          <a:xfrm>
            <a:off x="4679156" y="1860947"/>
            <a:ext cx="4179094" cy="4179094"/>
          </a:xfrm>
          <a:prstGeom prst="rec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42" name=""/>
        <p:cNvGrpSpPr/>
        <p:nvPr/>
      </p:nvGrpSpPr>
      <p:grpSpPr>
        <a:xfrm>
          <a:off x="0" y="0"/>
          <a:ext cx="0" cy="0"/>
          <a:chOff x="0" y="0"/>
          <a:chExt cx="0" cy="0"/>
        </a:xfrm>
      </p:grpSpPr>
      <p:pic>
        <p:nvPicPr>
          <p:cNvPr id="2097256" name="Image 0" descr="preencoded.png"/>
          <p:cNvPicPr>
            <a:picLocks noChangeAspect="1"/>
          </p:cNvPicPr>
          <p:nvPr/>
        </p:nvPicPr>
        <p:blipFill>
          <a:blip xmlns:r="http://schemas.openxmlformats.org/officeDocument/2006/relationships" r:embed="rId1"/>
          <a:stretch>
            <a:fillRect/>
          </a:stretch>
        </p:blipFill>
        <p:spPr>
          <a:xfrm>
            <a:off x="0" y="0"/>
            <a:ext cx="9144000" cy="5143500"/>
          </a:xfrm>
          <a:prstGeom prst="rect"/>
        </p:spPr>
      </p:pic>
      <p:sp>
        <p:nvSpPr>
          <p:cNvPr id="1048799" name="Text 0"/>
          <p:cNvSpPr/>
          <p:nvPr/>
        </p:nvSpPr>
        <p:spPr>
          <a:xfrm>
            <a:off x="285750" y="285750"/>
            <a:ext cx="8572500" cy="385763"/>
          </a:xfrm>
          <a:prstGeom prst="rect"/>
          <a:noFill/>
        </p:spPr>
        <p:txBody>
          <a:bodyPr anchor="ctr" bIns="0" lIns="0" rIns="0" rtlCol="0" tIns="0" wrap="none">
            <a:spAutoFit/>
          </a:bodyPr>
          <a:p>
            <a:pPr algn="ctr" indent="0" marL="0">
              <a:buNone/>
            </a:pPr>
            <a:r>
              <a:rPr b="1" dirty="0" sz="2025" lang="en-US">
                <a:solidFill>
                  <a:srgbClr val="FFFFFF"/>
                </a:solidFill>
                <a:latin typeface="Noto Sans" pitchFamily="34" charset="0"/>
                <a:ea typeface="Noto Sans" pitchFamily="34" charset="-122"/>
                <a:cs typeface="Noto Sans" pitchFamily="34" charset="-120"/>
              </a:rPr>
              <a:t>Conclusion &amp; Next Steps</a:t>
            </a:r>
            <a:endParaRPr dirty="0" sz="2025" lang="en-US"/>
          </a:p>
        </p:txBody>
      </p:sp>
      <p:sp>
        <p:nvSpPr>
          <p:cNvPr id="1048800" name="Text 1"/>
          <p:cNvSpPr/>
          <p:nvPr/>
        </p:nvSpPr>
        <p:spPr>
          <a:xfrm>
            <a:off x="285750" y="885825"/>
            <a:ext cx="4179094" cy="1600200"/>
          </a:xfrm>
          <a:prstGeom prst="rect"/>
          <a:noFill/>
        </p:spPr>
        <p:txBody>
          <a:bodyPr anchor="ctr" bIns="0" lIns="0" rIns="0" rtlCol="0" tIns="0" wrap="square">
            <a:spAutoFit/>
          </a:bodyPr>
          <a:p>
            <a:pPr indent="0" marL="0">
              <a:buNone/>
            </a:pPr>
            <a:r>
              <a:rPr dirty="0" sz="1046" lang="en-US">
                <a:solidFill>
                  <a:srgbClr val="FFFFFF"/>
                </a:solidFill>
                <a:latin typeface="Noto Sans" pitchFamily="34" charset="0"/>
                <a:ea typeface="Noto Sans" pitchFamily="34" charset="-122"/>
                <a:cs typeface="Noto Sans" pitchFamily="34" charset="-120"/>
              </a:rPr>
              <a:t> The AI-ML driven blood supply chain optimization platform addresses critical healthcare challenges by connecting donors, blood banks, and hospitals through an intelligent interface. By leveraging advanced machine learning models for demand prediction and donor engagement, the system aims to reduce shortages, minimize wastage, and ultimately improve patient outcomes. </a:t>
            </a:r>
            <a:endParaRPr dirty="0" sz="1046" lang="en-US"/>
          </a:p>
        </p:txBody>
      </p:sp>
      <p:sp>
        <p:nvSpPr>
          <p:cNvPr id="1048801" name="Text 2"/>
          <p:cNvSpPr/>
          <p:nvPr/>
        </p:nvSpPr>
        <p:spPr>
          <a:xfrm>
            <a:off x="285750" y="2700338"/>
            <a:ext cx="4179094" cy="257175"/>
          </a:xfrm>
          <a:prstGeom prst="rect"/>
          <a:noFill/>
        </p:spPr>
        <p:txBody>
          <a:bodyPr anchor="ctr" bIns="0" lIns="0" rIns="0" rtlCol="0" tIns="0" wrap="none">
            <a:spAutoFit/>
          </a:bodyPr>
          <a:p>
            <a:pPr indent="0" marL="0">
              <a:buNone/>
            </a:pPr>
            <a:r>
              <a:rPr b="1" dirty="0" sz="1350" lang="en-US">
                <a:solidFill>
                  <a:srgbClr val="FFFFFF"/>
                </a:solidFill>
                <a:latin typeface="Noto Sans" pitchFamily="34" charset="0"/>
                <a:ea typeface="Noto Sans" pitchFamily="34" charset="-122"/>
                <a:cs typeface="Noto Sans" pitchFamily="34" charset="-120"/>
              </a:rPr>
              <a:t>Future Enhancements</a:t>
            </a:r>
            <a:endParaRPr dirty="0" sz="1350" lang="en-US"/>
          </a:p>
        </p:txBody>
      </p:sp>
      <p:pic>
        <p:nvPicPr>
          <p:cNvPr id="2097257" name="Image 1" descr="preencoded.png"/>
          <p:cNvPicPr>
            <a:picLocks noChangeAspect="1"/>
          </p:cNvPicPr>
          <p:nvPr/>
        </p:nvPicPr>
        <p:blipFill>
          <a:blip xmlns:r="http://schemas.openxmlformats.org/officeDocument/2006/relationships" r:embed="rId2"/>
          <a:stretch>
            <a:fillRect/>
          </a:stretch>
        </p:blipFill>
        <p:spPr>
          <a:xfrm>
            <a:off x="285750" y="3121819"/>
            <a:ext cx="128588" cy="171450"/>
          </a:xfrm>
          <a:prstGeom prst="rect"/>
        </p:spPr>
      </p:pic>
      <p:sp>
        <p:nvSpPr>
          <p:cNvPr id="1048802" name="Text 3"/>
          <p:cNvSpPr/>
          <p:nvPr/>
        </p:nvSpPr>
        <p:spPr>
          <a:xfrm>
            <a:off x="521494" y="3100388"/>
            <a:ext cx="2827502" cy="214313"/>
          </a:xfrm>
          <a:prstGeom prst="rect"/>
          <a:noFill/>
        </p:spPr>
        <p:txBody>
          <a:bodyPr anchor="ctr" bIns="0" lIns="0" rIns="0" rtlCol="0" tIns="0" wrap="none">
            <a:spAutoFit/>
          </a:bodyPr>
          <a:p>
            <a:pPr algn="l" indent="0" marL="0">
              <a:buNone/>
            </a:pPr>
            <a:r>
              <a:rPr dirty="0" sz="1046" lang="en-US">
                <a:solidFill>
                  <a:srgbClr val="FFFFFF"/>
                </a:solidFill>
                <a:latin typeface="Noto Sans" pitchFamily="34" charset="0"/>
                <a:ea typeface="Noto Sans" pitchFamily="34" charset="-122"/>
                <a:cs typeface="Noto Sans" pitchFamily="34" charset="-120"/>
              </a:rPr>
              <a:t> Integration with Electronic Health Records </a:t>
            </a:r>
            <a:endParaRPr dirty="0" sz="1046" lang="en-US"/>
          </a:p>
        </p:txBody>
      </p:sp>
      <p:pic>
        <p:nvPicPr>
          <p:cNvPr id="2097258" name="Image 2" descr="preencoded.png"/>
          <p:cNvPicPr>
            <a:picLocks noChangeAspect="1"/>
          </p:cNvPicPr>
          <p:nvPr/>
        </p:nvPicPr>
        <p:blipFill>
          <a:blip xmlns:r="http://schemas.openxmlformats.org/officeDocument/2006/relationships" r:embed="rId3"/>
          <a:stretch>
            <a:fillRect/>
          </a:stretch>
        </p:blipFill>
        <p:spPr>
          <a:xfrm>
            <a:off x="285750" y="3443288"/>
            <a:ext cx="214313" cy="171450"/>
          </a:xfrm>
          <a:prstGeom prst="rect"/>
        </p:spPr>
      </p:pic>
      <p:sp>
        <p:nvSpPr>
          <p:cNvPr id="1048803" name="Text 4"/>
          <p:cNvSpPr/>
          <p:nvPr/>
        </p:nvSpPr>
        <p:spPr>
          <a:xfrm>
            <a:off x="607219" y="3421856"/>
            <a:ext cx="2802359" cy="214313"/>
          </a:xfrm>
          <a:prstGeom prst="rect"/>
          <a:noFill/>
        </p:spPr>
        <p:txBody>
          <a:bodyPr anchor="ctr" bIns="0" lIns="0" rIns="0" rtlCol="0" tIns="0" wrap="none">
            <a:spAutoFit/>
          </a:bodyPr>
          <a:p>
            <a:pPr algn="l" indent="0" marL="0">
              <a:buNone/>
            </a:pPr>
            <a:r>
              <a:rPr dirty="0" sz="1046" lang="en-US">
                <a:solidFill>
                  <a:srgbClr val="FFFFFF"/>
                </a:solidFill>
                <a:latin typeface="Noto Sans" pitchFamily="34" charset="0"/>
                <a:ea typeface="Noto Sans" pitchFamily="34" charset="-122"/>
                <a:cs typeface="Noto Sans" pitchFamily="34" charset="-120"/>
              </a:rPr>
              <a:t> Blockchain for Supply Chain Transparency </a:t>
            </a:r>
            <a:endParaRPr dirty="0" sz="1046" lang="en-US"/>
          </a:p>
        </p:txBody>
      </p:sp>
      <p:pic>
        <p:nvPicPr>
          <p:cNvPr id="2097259" name="Image 3" descr="preencoded.png"/>
          <p:cNvPicPr>
            <a:picLocks noChangeAspect="1"/>
          </p:cNvPicPr>
          <p:nvPr/>
        </p:nvPicPr>
        <p:blipFill>
          <a:blip xmlns:r="http://schemas.openxmlformats.org/officeDocument/2006/relationships" r:embed="rId4"/>
          <a:stretch>
            <a:fillRect/>
          </a:stretch>
        </p:blipFill>
        <p:spPr>
          <a:xfrm>
            <a:off x="285750" y="3764756"/>
            <a:ext cx="192881" cy="171450"/>
          </a:xfrm>
          <a:prstGeom prst="rect"/>
        </p:spPr>
      </p:pic>
      <p:sp>
        <p:nvSpPr>
          <p:cNvPr id="1048804" name="Text 5"/>
          <p:cNvSpPr/>
          <p:nvPr/>
        </p:nvSpPr>
        <p:spPr>
          <a:xfrm>
            <a:off x="585788" y="3743325"/>
            <a:ext cx="2701621" cy="214313"/>
          </a:xfrm>
          <a:prstGeom prst="rect"/>
          <a:noFill/>
        </p:spPr>
        <p:txBody>
          <a:bodyPr anchor="ctr" bIns="0" lIns="0" rIns="0" rtlCol="0" tIns="0" wrap="none">
            <a:spAutoFit/>
          </a:bodyPr>
          <a:p>
            <a:pPr algn="l" indent="0" marL="0">
              <a:buNone/>
            </a:pPr>
            <a:r>
              <a:rPr dirty="0" sz="1046" lang="en-US">
                <a:solidFill>
                  <a:srgbClr val="FFFFFF"/>
                </a:solidFill>
                <a:latin typeface="Noto Sans" pitchFamily="34" charset="0"/>
                <a:ea typeface="Noto Sans" pitchFamily="34" charset="-122"/>
                <a:cs typeface="Noto Sans" pitchFamily="34" charset="-120"/>
              </a:rPr>
              <a:t> Advanced Analytics &amp; Predictive Insights </a:t>
            </a:r>
            <a:endParaRPr dirty="0" sz="1046" lang="en-US"/>
          </a:p>
        </p:txBody>
      </p:sp>
      <p:pic>
        <p:nvPicPr>
          <p:cNvPr id="2097260" name="Image 4" descr="preencoded.png"/>
          <p:cNvPicPr>
            <a:picLocks noChangeAspect="1"/>
          </p:cNvPicPr>
          <p:nvPr/>
        </p:nvPicPr>
        <p:blipFill>
          <a:blip xmlns:r="http://schemas.openxmlformats.org/officeDocument/2006/relationships" r:embed="rId5"/>
          <a:stretch>
            <a:fillRect/>
          </a:stretch>
        </p:blipFill>
        <p:spPr>
          <a:xfrm>
            <a:off x="285750" y="4086225"/>
            <a:ext cx="150019" cy="171450"/>
          </a:xfrm>
          <a:prstGeom prst="rect"/>
        </p:spPr>
      </p:pic>
      <p:sp>
        <p:nvSpPr>
          <p:cNvPr id="1048805" name="Text 6"/>
          <p:cNvSpPr/>
          <p:nvPr/>
        </p:nvSpPr>
        <p:spPr>
          <a:xfrm>
            <a:off x="542925" y="4064794"/>
            <a:ext cx="2161291" cy="214313"/>
          </a:xfrm>
          <a:prstGeom prst="rect"/>
          <a:noFill/>
        </p:spPr>
        <p:txBody>
          <a:bodyPr anchor="ctr" bIns="0" lIns="0" rIns="0" rtlCol="0" tIns="0" wrap="none">
            <a:spAutoFit/>
          </a:bodyPr>
          <a:p>
            <a:pPr algn="l" indent="0" marL="0">
              <a:buNone/>
            </a:pPr>
            <a:r>
              <a:rPr dirty="0" sz="1046" lang="en-US">
                <a:solidFill>
                  <a:srgbClr val="FFFFFF"/>
                </a:solidFill>
                <a:latin typeface="Noto Sans" pitchFamily="34" charset="0"/>
                <a:ea typeface="Noto Sans" pitchFamily="34" charset="-122"/>
                <a:cs typeface="Noto Sans" pitchFamily="34" charset="-120"/>
              </a:rPr>
              <a:t> Geographic Expansion &amp; Scaling </a:t>
            </a:r>
            <a:endParaRPr dirty="0" sz="1046" lang="en-US"/>
          </a:p>
        </p:txBody>
      </p:sp>
      <p:pic>
        <p:nvPicPr>
          <p:cNvPr id="2097261" name="Image 5" descr="preencoded.png"/>
          <p:cNvPicPr>
            <a:picLocks noChangeAspect="1"/>
          </p:cNvPicPr>
          <p:nvPr/>
        </p:nvPicPr>
        <p:blipFill>
          <a:blip xmlns:r="http://schemas.openxmlformats.org/officeDocument/2006/relationships" r:embed="rId6"/>
          <a:stretch>
            <a:fillRect/>
          </a:stretch>
        </p:blipFill>
        <p:spPr>
          <a:xfrm>
            <a:off x="285750" y="4407694"/>
            <a:ext cx="214313" cy="171450"/>
          </a:xfrm>
          <a:prstGeom prst="rect"/>
        </p:spPr>
      </p:pic>
      <p:sp>
        <p:nvSpPr>
          <p:cNvPr id="1048806" name="Text 7"/>
          <p:cNvSpPr/>
          <p:nvPr/>
        </p:nvSpPr>
        <p:spPr>
          <a:xfrm>
            <a:off x="607219" y="4386263"/>
            <a:ext cx="2450892" cy="214313"/>
          </a:xfrm>
          <a:prstGeom prst="rect"/>
          <a:noFill/>
        </p:spPr>
        <p:txBody>
          <a:bodyPr anchor="ctr" bIns="0" lIns="0" rIns="0" rtlCol="0" tIns="0" wrap="none">
            <a:spAutoFit/>
          </a:bodyPr>
          <a:p>
            <a:pPr algn="l" indent="0" marL="0">
              <a:buNone/>
            </a:pPr>
            <a:r>
              <a:rPr dirty="0" sz="1046" lang="en-US">
                <a:solidFill>
                  <a:srgbClr val="FFFFFF"/>
                </a:solidFill>
                <a:latin typeface="Noto Sans" pitchFamily="34" charset="0"/>
                <a:ea typeface="Noto Sans" pitchFamily="34" charset="-122"/>
                <a:cs typeface="Noto Sans" pitchFamily="34" charset="-120"/>
              </a:rPr>
              <a:t> Mobile Collection Units Optimization </a:t>
            </a:r>
            <a:endParaRPr dirty="0" sz="1046" lang="en-US"/>
          </a:p>
        </p:txBody>
      </p:sp>
      <p:pic>
        <p:nvPicPr>
          <p:cNvPr id="2097262" name="Picture 19" descr="A black and white image of a building with arrows"/>
          <p:cNvPicPr>
            <a:picLocks noChangeAspect="1"/>
          </p:cNvPicPr>
          <p:nvPr/>
        </p:nvPicPr>
        <p:blipFill>
          <a:blip xmlns:r="http://schemas.openxmlformats.org/officeDocument/2006/relationships" r:embed="rId7"/>
          <a:stretch>
            <a:fillRect/>
          </a:stretch>
        </p:blipFill>
        <p:spPr>
          <a:xfrm>
            <a:off x="4750594" y="1047750"/>
            <a:ext cx="4107656" cy="3531394"/>
          </a:xfrm>
          <a:prstGeom prst="rect"/>
        </p:spPr>
      </p:pic>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Application>Microsoft Office PowerPoint</Application>
  <ScaleCrop>0</ScaleCrop>
  <Company>PptxGenJS</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PptxGenJS Presentation</dc:title>
  <dc:creator>PptxGenJS</dc:creator>
  <cp:lastModifiedBy>Mourya krishna sai Kommoju</cp:lastModifiedBy>
  <dcterms:created xsi:type="dcterms:W3CDTF">2025-09-11T03:03:01Z</dcterms:created>
  <dcterms:modified xsi:type="dcterms:W3CDTF">2025-09-27T09:23:48Z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5d2e7b0f1ea14bf58fb17173adbea03e</vt:lpwstr>
  </property>
</Properties>
</file>